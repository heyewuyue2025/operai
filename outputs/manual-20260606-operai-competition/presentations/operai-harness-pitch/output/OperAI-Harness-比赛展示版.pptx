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1607d307084e63" /><Relationship Type="http://schemas.openxmlformats.org/officeDocument/2006/relationships/extended-properties" Target="/docProps/app.xml" Id="Ra4c5bd6db8d54528" /><Relationship Type="http://schemas.openxmlformats.org/officeDocument/2006/relationships/officeDocument" Target="/ppt/presentation.xml" Id="R18801b063c8541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22b1b47e8d43c9"/>
  </p:sldMasterIdLst>
  <p:notesMasterIdLst>
    <p:notesMasterId xmlns:r="http://schemas.openxmlformats.org/officeDocument/2006/relationships" r:id="R503cfe077905437b"/>
  </p:notesMasterIdLst>
  <p:sldIdLst>
    <p:sldId xmlns:r="http://schemas.openxmlformats.org/officeDocument/2006/relationships" id="256" r:id="Rf98d7dbd78f64430"/>
    <p:sldId xmlns:r="http://schemas.openxmlformats.org/officeDocument/2006/relationships" id="257" r:id="R7157ea5625aa40c1"/>
    <p:sldId xmlns:r="http://schemas.openxmlformats.org/officeDocument/2006/relationships" id="258" r:id="R89ea43feb07d48d6"/>
    <p:sldId xmlns:r="http://schemas.openxmlformats.org/officeDocument/2006/relationships" id="259" r:id="R705830dc7d7e4bc3"/>
    <p:sldId xmlns:r="http://schemas.openxmlformats.org/officeDocument/2006/relationships" id="260" r:id="R71d8b998ab5c4db1"/>
    <p:sldId xmlns:r="http://schemas.openxmlformats.org/officeDocument/2006/relationships" id="261" r:id="Rbc8540d82255489d"/>
    <p:sldId xmlns:r="http://schemas.openxmlformats.org/officeDocument/2006/relationships" id="262" r:id="Rbd4008f995dc469a"/>
    <p:sldId xmlns:r="http://schemas.openxmlformats.org/officeDocument/2006/relationships" id="263" r:id="Rf77407215b854840"/>
    <p:sldId xmlns:r="http://schemas.openxmlformats.org/officeDocument/2006/relationships" id="264" r:id="R76d7c7aa64b54aaa"/>
    <p:sldId xmlns:r="http://schemas.openxmlformats.org/officeDocument/2006/relationships" id="265" r:id="R3fa8e67834ad49f4"/>
    <p:sldId xmlns:r="http://schemas.openxmlformats.org/officeDocument/2006/relationships" id="266" r:id="R1825162f1fe24a84"/>
    <p:sldId xmlns:r="http://schemas.openxmlformats.org/officeDocument/2006/relationships" id="267" r:id="Rd0656271770741b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d5a3b862f34f5e" /><Relationship Type="http://schemas.openxmlformats.org/officeDocument/2006/relationships/slideMaster" Target="/ppt/slideMasters/slideMaster1.xml" Id="Rd822b1b47e8d43c9" /><Relationship Type="http://schemas.openxmlformats.org/officeDocument/2006/relationships/notesMaster" Target="/ppt/notesMasters/notesMaster1.xml" Id="R503cfe077905437b" /><Relationship Type="http://schemas.openxmlformats.org/officeDocument/2006/relationships/presProps" Target="/ppt/presProps.xml" Id="Rcfef35e27ecc4177" /><Relationship Type="http://schemas.openxmlformats.org/officeDocument/2006/relationships/viewProps" Target="/ppt/viewProps.xml" Id="Rcfd6d30c6d894f92" /><Relationship Type="http://schemas.openxmlformats.org/officeDocument/2006/relationships/tableStyles" Target="/ppt/tableStyles.xml" Id="Rd1fde50e2f4d4d0b" /><Relationship Type="http://schemas.openxmlformats.org/officeDocument/2006/relationships/slide" Target="/ppt/slides/slide1.xml" Id="Rf98d7dbd78f64430" /><Relationship Type="http://schemas.openxmlformats.org/officeDocument/2006/relationships/slide" Target="/ppt/slides/slide2.xml" Id="R7157ea5625aa40c1" /><Relationship Type="http://schemas.openxmlformats.org/officeDocument/2006/relationships/slide" Target="/ppt/slides/slide3.xml" Id="R89ea43feb07d48d6" /><Relationship Type="http://schemas.openxmlformats.org/officeDocument/2006/relationships/slide" Target="/ppt/slides/slide4.xml" Id="R705830dc7d7e4bc3" /><Relationship Type="http://schemas.openxmlformats.org/officeDocument/2006/relationships/slide" Target="/ppt/slides/slide5.xml" Id="R71d8b998ab5c4db1" /><Relationship Type="http://schemas.openxmlformats.org/officeDocument/2006/relationships/slide" Target="/ppt/slides/slide6.xml" Id="Rbc8540d82255489d" /><Relationship Type="http://schemas.openxmlformats.org/officeDocument/2006/relationships/slide" Target="/ppt/slides/slide7.xml" Id="Rbd4008f995dc469a" /><Relationship Type="http://schemas.openxmlformats.org/officeDocument/2006/relationships/slide" Target="/ppt/slides/slide8.xml" Id="Rf77407215b854840" /><Relationship Type="http://schemas.openxmlformats.org/officeDocument/2006/relationships/slide" Target="/ppt/slides/slide9.xml" Id="R76d7c7aa64b54aaa" /><Relationship Type="http://schemas.openxmlformats.org/officeDocument/2006/relationships/slide" Target="/ppt/slides/slide10.xml" Id="R3fa8e67834ad49f4" /><Relationship Type="http://schemas.openxmlformats.org/officeDocument/2006/relationships/slide" Target="/ppt/slides/slide11.xml" Id="R1825162f1fe24a84" /><Relationship Type="http://schemas.openxmlformats.org/officeDocument/2006/relationships/slide" Target="/ppt/slides/slide12.xml" Id="Rd0656271770741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f5f14d5e0644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6fabe29d974195" /><Relationship Type="http://schemas.openxmlformats.org/officeDocument/2006/relationships/notesMaster" Target="/ppt/notesMasters/notesMaster1.xml" Id="Ra920c600e7c145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1d9e0971a44794" /><Relationship Type="http://schemas.openxmlformats.org/officeDocument/2006/relationships/notesMaster" Target="/ppt/notesMasters/notesMaster1.xml" Id="Rb1494e88400949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99eb1b98c447d8" /><Relationship Type="http://schemas.openxmlformats.org/officeDocument/2006/relationships/notesMaster" Target="/ppt/notesMasters/notesMaster1.xml" Id="R4b3a9257d3a146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8ff306ed2a412c" /><Relationship Type="http://schemas.openxmlformats.org/officeDocument/2006/relationships/notesMaster" Target="/ppt/notesMasters/notesMaster1.xml" Id="R969993248a7047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24655c4b494092" /><Relationship Type="http://schemas.openxmlformats.org/officeDocument/2006/relationships/notesMaster" Target="/ppt/notesMasters/notesMaster1.xml" Id="R0af4eca2c66542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1985c3ebdb46fd" /><Relationship Type="http://schemas.openxmlformats.org/officeDocument/2006/relationships/notesMaster" Target="/ppt/notesMasters/notesMaster1.xml" Id="R61154f74c73442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737ffd00e5456d" /><Relationship Type="http://schemas.openxmlformats.org/officeDocument/2006/relationships/notesMaster" Target="/ppt/notesMasters/notesMaster1.xml" Id="R95efdb5a6b914b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b67a6a49554261" /><Relationship Type="http://schemas.openxmlformats.org/officeDocument/2006/relationships/notesMaster" Target="/ppt/notesMasters/notesMaster1.xml" Id="R95ee8a4532664b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c0e91ce21147c5" /><Relationship Type="http://schemas.openxmlformats.org/officeDocument/2006/relationships/notesMaster" Target="/ppt/notesMasters/notesMaster1.xml" Id="Rc6f5cc0012aa4b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99843814b9437a" /><Relationship Type="http://schemas.openxmlformats.org/officeDocument/2006/relationships/notesMaster" Target="/ppt/notesMasters/notesMaster1.xml" Id="Rfa96b31acf5546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8d567ba14b4d73" /><Relationship Type="http://schemas.openxmlformats.org/officeDocument/2006/relationships/notesMaster" Target="/ppt/notesMasters/notesMaster1.xml" Id="R13e58eea0cd84f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98745c4d1c4231" /><Relationship Type="http://schemas.openxmlformats.org/officeDocument/2006/relationships/notesMaster" Target="/ppt/notesMasters/notesMaster1.xml" Id="R63fb3838e24e45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eac16262f641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a588af304f4793" /><Relationship Type="http://schemas.openxmlformats.org/officeDocument/2006/relationships/slideLayout" Target="/ppt/slideLayouts/slideLayout1.xml" Id="Rcba0c428176341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a0c428176341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951f4a2d94c6a" /><Relationship Type="http://schemas.openxmlformats.org/officeDocument/2006/relationships/notesSlide" Target="/ppt/notesSlides/notesSlide1.xml" Id="R9c98c09255bc4c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bea7abe3e4d8c" /><Relationship Type="http://schemas.openxmlformats.org/officeDocument/2006/relationships/notesSlide" Target="/ppt/notesSlides/notesSlide2.xml" Id="R601b94f37ef94a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21637b7ec4501" /><Relationship Type="http://schemas.openxmlformats.org/officeDocument/2006/relationships/notesSlide" Target="/ppt/notesSlides/notesSlide3.xml" Id="Rb967ca22e30b4e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9297d12174fcd" /><Relationship Type="http://schemas.openxmlformats.org/officeDocument/2006/relationships/notesSlide" Target="/ppt/notesSlides/notesSlide4.xml" Id="R647a0a5f1f2446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eeca1cd0648e9" /><Relationship Type="http://schemas.openxmlformats.org/officeDocument/2006/relationships/notesSlide" Target="/ppt/notesSlides/notesSlide5.xml" Id="Rb7be03ecdd0a44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c09b678a647d3" /><Relationship Type="http://schemas.openxmlformats.org/officeDocument/2006/relationships/notesSlide" Target="/ppt/notesSlides/notesSlide6.xml" Id="R6561a673955149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f5258b3314406" /><Relationship Type="http://schemas.openxmlformats.org/officeDocument/2006/relationships/notesSlide" Target="/ppt/notesSlides/notesSlide7.xml" Id="Rb60de44ae3ed47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f43e12b474f3e" /><Relationship Type="http://schemas.openxmlformats.org/officeDocument/2006/relationships/notesSlide" Target="/ppt/notesSlides/notesSlide8.xml" Id="R3581e491251a4f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58e0f625f423e" /><Relationship Type="http://schemas.openxmlformats.org/officeDocument/2006/relationships/notesSlide" Target="/ppt/notesSlides/notesSlide9.xml" Id="R93957f3d190c42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300d8bb4442c4" /><Relationship Type="http://schemas.openxmlformats.org/officeDocument/2006/relationships/notesSlide" Target="/ppt/notesSlides/notesSlide10.xml" Id="R8c4b211158ad4c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c4a1631914775" /><Relationship Type="http://schemas.openxmlformats.org/officeDocument/2006/relationships/notesSlide" Target="/ppt/notesSlides/notesSlide11.xml" Id="R8ef57007809543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56e6b298649b8" /><Relationship Type="http://schemas.openxmlformats.org/officeDocument/2006/relationships/notesSlide" Target="/ppt/notesSlides/notesSlide12.xml" Id="R45084a22e13e4a5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-bg">
            <a:extLst xmlns:a="http://schemas.openxmlformats.org/drawingml/2006/main">
              <a:ext uri="{FF2B5EF4-FFF2-40B4-BE49-F238E27FC236}">
                <a16:creationId xmlns:a16="http://schemas.microsoft.com/office/drawing/2014/main" id="{4C2F22D7-3D56-4171-AC7B-71AD89E1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F00D7027-1F5F-4E79-BA58-31836E41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9D61A896-E49C-4269-8C86-2649FC1A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EDC4DE09-2AE1-4866-BFA2-9577197D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C8B69C39-CF76-4FF3-9C3A-095054CE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E38F973F-EC4F-4CBF-A4EB-02448519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3D79E62F-EEA9-4A43-A0B2-E26BE908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599AD27F-1EF1-4594-B191-19B9039B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529F544D-3184-42CF-BBBB-8CBE2E17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193FA059-A34B-4181-8F97-1E2F25FF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4DD18983-7759-48A5-A88D-4E06AE39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012C0235-4998-4A67-8B3C-B9137367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18D97171-0493-4684-B906-2BBFBED2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3B67AC63-1DA3-435E-8E74-B0EE916C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68E881C9-06BB-41BC-A71E-DA5784D9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1FBBCAA6-7973-4CC4-995F-F9B215C8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84157932-CB86-41FC-9EF6-7F850548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6ACB5CBC-6B34-4D3F-A972-FC8A35C1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F91A03F0-14F0-4F56-B197-FFEF6C8F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A1B90F87-2813-44C9-BE7A-2885E04D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BD79335C-D425-4AEA-AD90-E7310CFE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BCE3573B-5872-4919-B409-C07FCF91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D4D39AC5-2918-4F28-8ED1-BDDF6FFB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4" name="grid-v">
            <a:extLst xmlns:a="http://schemas.openxmlformats.org/drawingml/2006/main">
              <a:ext uri="{FF2B5EF4-FFF2-40B4-BE49-F238E27FC236}">
                <a16:creationId xmlns:a16="http://schemas.microsoft.com/office/drawing/2014/main" id="{B8BA6360-FA77-42EC-ACCD-01D7DF9A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5" name="grid-v">
            <a:extLst xmlns:a="http://schemas.openxmlformats.org/drawingml/2006/main">
              <a:ext uri="{FF2B5EF4-FFF2-40B4-BE49-F238E27FC236}">
                <a16:creationId xmlns:a16="http://schemas.microsoft.com/office/drawing/2014/main" id="{3EDCA4F6-DBA3-400C-8F26-8C66E4B3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6" name="grid-v">
            <a:extLst xmlns:a="http://schemas.openxmlformats.org/drawingml/2006/main">
              <a:ext uri="{FF2B5EF4-FFF2-40B4-BE49-F238E27FC236}">
                <a16:creationId xmlns:a16="http://schemas.microsoft.com/office/drawing/2014/main" id="{5C9D1CD6-E315-4E7F-BEFC-78769828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7" name="grid-v">
            <a:extLst xmlns:a="http://schemas.openxmlformats.org/drawingml/2006/main">
              <a:ext uri="{FF2B5EF4-FFF2-40B4-BE49-F238E27FC236}">
                <a16:creationId xmlns:a16="http://schemas.microsoft.com/office/drawing/2014/main" id="{5413098E-DDE0-4147-B96B-45BB962A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8" name="grid-v">
            <a:extLst xmlns:a="http://schemas.openxmlformats.org/drawingml/2006/main">
              <a:ext uri="{FF2B5EF4-FFF2-40B4-BE49-F238E27FC236}">
                <a16:creationId xmlns:a16="http://schemas.microsoft.com/office/drawing/2014/main" id="{855F8F1F-81F9-44FC-9734-D409CC6A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9" name="grid-v">
            <a:extLst xmlns:a="http://schemas.openxmlformats.org/drawingml/2006/main">
              <a:ext uri="{FF2B5EF4-FFF2-40B4-BE49-F238E27FC236}">
                <a16:creationId xmlns:a16="http://schemas.microsoft.com/office/drawing/2014/main" id="{34A2EA6B-AD75-4EE9-86B1-0CAAA18A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E5C38D3D-9B5F-4833-AF78-5E5B37F4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E1DB2B51-DEBF-4230-ABAB-5182DE8A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B760429A-EB8A-42F8-85BA-3529A189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9FC274C1-A9B3-4174-A4D8-C1D44B67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0E1FF731-E55C-4452-B2F7-1D1C11B5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30682228-1F84-4BED-AB54-696E8DC2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9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6" name="grid-h">
            <a:extLst xmlns:a="http://schemas.openxmlformats.org/drawingml/2006/main">
              <a:ext uri="{FF2B5EF4-FFF2-40B4-BE49-F238E27FC236}">
                <a16:creationId xmlns:a16="http://schemas.microsoft.com/office/drawing/2014/main" id="{998AA9E3-4525-4BB7-83AA-36ACE449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28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7" name="grid-h">
            <a:extLst xmlns:a="http://schemas.openxmlformats.org/drawingml/2006/main">
              <a:ext uri="{FF2B5EF4-FFF2-40B4-BE49-F238E27FC236}">
                <a16:creationId xmlns:a16="http://schemas.microsoft.com/office/drawing/2014/main" id="{06B2EBDF-7E70-4031-8C19-786613C1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67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8" name="grid-h">
            <a:extLst xmlns:a="http://schemas.openxmlformats.org/drawingml/2006/main">
              <a:ext uri="{FF2B5EF4-FFF2-40B4-BE49-F238E27FC236}">
                <a16:creationId xmlns:a16="http://schemas.microsoft.com/office/drawing/2014/main" id="{ADB3870D-C423-4794-9F80-66FD0E39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05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9" name="grid-h">
            <a:extLst xmlns:a="http://schemas.openxmlformats.org/drawingml/2006/main">
              <a:ext uri="{FF2B5EF4-FFF2-40B4-BE49-F238E27FC236}">
                <a16:creationId xmlns:a16="http://schemas.microsoft.com/office/drawing/2014/main" id="{6047D280-8098-4031-A585-FBC7C34B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0" name="grid-h">
            <a:extLst xmlns:a="http://schemas.openxmlformats.org/drawingml/2006/main">
              <a:ext uri="{FF2B5EF4-FFF2-40B4-BE49-F238E27FC236}">
                <a16:creationId xmlns:a16="http://schemas.microsoft.com/office/drawing/2014/main" id="{1D505934-BB51-4E0F-B5B0-1A7CBEA3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1" name="grid-h">
            <a:extLst xmlns:a="http://schemas.openxmlformats.org/drawingml/2006/main">
              <a:ext uri="{FF2B5EF4-FFF2-40B4-BE49-F238E27FC236}">
                <a16:creationId xmlns:a16="http://schemas.microsoft.com/office/drawing/2014/main" id="{56D7923E-1671-4C79-8249-1028EF8D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19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2" name="grid-h">
            <a:extLst xmlns:a="http://schemas.openxmlformats.org/drawingml/2006/main">
              <a:ext uri="{FF2B5EF4-FFF2-40B4-BE49-F238E27FC236}">
                <a16:creationId xmlns:a16="http://schemas.microsoft.com/office/drawing/2014/main" id="{48F9D06C-E2D8-4F2B-AD75-0327CBED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3" name="grid-h">
            <a:extLst xmlns:a="http://schemas.openxmlformats.org/drawingml/2006/main">
              <a:ext uri="{FF2B5EF4-FFF2-40B4-BE49-F238E27FC236}">
                <a16:creationId xmlns:a16="http://schemas.microsoft.com/office/drawing/2014/main" id="{F223041F-3858-466E-8299-ADB4309B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95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4" name="grid-h">
            <a:extLst xmlns:a="http://schemas.openxmlformats.org/drawingml/2006/main">
              <a:ext uri="{FF2B5EF4-FFF2-40B4-BE49-F238E27FC236}">
                <a16:creationId xmlns:a16="http://schemas.microsoft.com/office/drawing/2014/main" id="{BEA1A590-797B-4445-9F44-BBBD95CF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5" name="grid-h">
            <a:extLst xmlns:a="http://schemas.openxmlformats.org/drawingml/2006/main">
              <a:ext uri="{FF2B5EF4-FFF2-40B4-BE49-F238E27FC236}">
                <a16:creationId xmlns:a16="http://schemas.microsoft.com/office/drawing/2014/main" id="{5F048BFD-826D-4509-AD29-7910BDEC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6" name="top-red-rule">
            <a:extLst xmlns:a="http://schemas.openxmlformats.org/drawingml/2006/main">
              <a:ext uri="{FF2B5EF4-FFF2-40B4-BE49-F238E27FC236}">
                <a16:creationId xmlns:a16="http://schemas.microsoft.com/office/drawing/2014/main" id="{1354719A-CA1F-4BE2-999E-CA2A06DD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47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E0CAF651-DB24-4F24-AEF1-A37922A8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461"/>
          </a:solidFill>
          <a:ln xmlns:a="http://schemas.openxmlformats.org/drawingml/2006/main" w="0">
            <a:solidFill>
              <a:srgbClr val="E2C461"/>
            </a:solidFill>
            <a:prstDash val="solid"/>
          </a:ln>
        </p:spPr>
      </p:sp>
      <p:sp>
        <p:nvSpPr>
          <p:cNvPr id="48" name="red-diagonal">
            <a:extLst xmlns:a="http://schemas.openxmlformats.org/drawingml/2006/main">
              <a:ext uri="{FF2B5EF4-FFF2-40B4-BE49-F238E27FC236}">
                <a16:creationId xmlns:a16="http://schemas.microsoft.com/office/drawing/2014/main" id="{F025D05A-AA50-4AEE-AE29-FC5B165F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10000">
            <a:off x="685800" y="2533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49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C1E329F-6D29-4C38-A82E-5DCE7C43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50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6014FDB-01B3-42CE-8747-613129FA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43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COMPETITION ROADSHOW / 5 MINUTES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01C131D-9193-4473-BB48-6BDA60F8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457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0">
                <a:solidFill>
                  <a:srgbClr val="16120E"/>
                </a:solidFill>
                <a:latin typeface="SimSun"/>
                <a:ea typeface="SimSun"/>
                <a:cs typeface="SimSun"/>
              </a:defRPr>
            </a:pPr>
            <a:r>
              <a:rPr sz="4650" b="0">
                <a:solidFill>
                  <a:srgbClr val="16120E"/>
                </a:solidFill>
                <a:latin typeface="SimSun"/>
                <a:ea typeface="SimSun"/>
                <a:cs typeface="SimSun"/>
              </a:rPr>
              <a:t>OperAI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41372A-85EB-416F-9E4A-45EEE90B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0">
                <a:solidFill>
                  <a:srgbClr val="C73824"/>
                </a:solidFill>
                <a:latin typeface="SimSun"/>
                <a:ea typeface="SimSun"/>
                <a:cs typeface="SimSun"/>
              </a:defRPr>
            </a:pPr>
            <a:r>
              <a:rPr sz="4650" b="0">
                <a:solidFill>
                  <a:srgbClr val="C73824"/>
                </a:solidFill>
                <a:latin typeface="SimSun"/>
                <a:ea typeface="SimSun"/>
                <a:cs typeface="SimSun"/>
              </a:rPr>
              <a:t>× Harness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8C4D67-C9FA-42E7-B16A-9AAEA1EC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647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面向企业运营团队的智能运营编排系统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AF17561-254C-4BB2-A163-F6EDD34C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让运营工作从“反复搬运和临时判断”，变成可编排、可检验、可交付的团队能力。</a:t>
            </a:r>
          </a:p>
        </p:txBody>
      </p:sp>
      <p:sp>
        <p:nvSpPr>
          <p:cNvPr id="55" name="stamp-box">
            <a:extLst xmlns:a="http://schemas.openxmlformats.org/drawingml/2006/main">
              <a:ext uri="{FF2B5EF4-FFF2-40B4-BE49-F238E27FC236}">
                <a16:creationId xmlns:a16="http://schemas.microsoft.com/office/drawing/2014/main" id="{6481336B-7C48-4C12-B77E-B414E9C3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914400"/>
            <a:ext cx="742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C7382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6B3C91-B14E-4DFF-A006-9018EA0A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10287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rPr>
              <a:t>PITCH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97B6B4D-842D-4FA3-86AB-9089A468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2A4"/>
          </a:solidFill>
          <a:ln xmlns:a="http://schemas.openxmlformats.org/drawingml/2006/main" w="0">
            <a:solidFill>
              <a:srgbClr val="BDB2A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4F4E983-EE9D-46BF-B9B2-CF4F3FF8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6120E"/>
                </a:solidFill>
                <a:latin typeface="SimSun"/>
                <a:ea typeface="SimSun"/>
                <a:cs typeface="SimSun"/>
              </a:defRPr>
            </a:pPr>
            <a:r>
              <a:rPr sz="3150" b="0">
                <a:solidFill>
                  <a:srgbClr val="16120E"/>
                </a:solidFill>
                <a:latin typeface="SimSun"/>
                <a:ea typeface="SimSun"/>
                <a:cs typeface="SimSun"/>
              </a:rPr>
              <a:t>8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8B9C891-E7FC-4CDA-8098-09300655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职能入口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F068EFC-2D07-4C61-8460-E397EF87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按岗位进入工作台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4B970E-2BEB-49FE-94D0-97DD95A4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958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2A4"/>
          </a:solidFill>
          <a:ln xmlns:a="http://schemas.openxmlformats.org/drawingml/2006/main" w="0">
            <a:solidFill>
              <a:srgbClr val="BDB2A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95ADCEB-C845-4A6B-8AAB-5F3FB5D9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673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6120E"/>
                </a:solidFill>
                <a:latin typeface="SimSun"/>
                <a:ea typeface="SimSun"/>
                <a:cs typeface="SimSun"/>
              </a:defRPr>
            </a:pPr>
            <a:r>
              <a:rPr sz="3150" b="0">
                <a:solidFill>
                  <a:srgbClr val="16120E"/>
                </a:solidFill>
                <a:latin typeface="SimSun"/>
                <a:ea typeface="SimSun"/>
                <a:cs typeface="SimSun"/>
              </a:rPr>
              <a:t>10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5FFAC9B-16F5-4C00-96A7-9D427EB7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435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运营智能体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7DBA0D1-7F9F-44A0-91A3-A9E824D0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293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保留原有执行集群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7A085C0-1ECF-44A3-8270-EC8B437E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9585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2A4"/>
          </a:solidFill>
          <a:ln xmlns:a="http://schemas.openxmlformats.org/drawingml/2006/main" w="0">
            <a:solidFill>
              <a:srgbClr val="BDB2A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E29EE19-9DE2-49F5-A1A5-DA0F402C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0673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6120E"/>
                </a:solidFill>
                <a:latin typeface="SimSun"/>
                <a:ea typeface="SimSun"/>
                <a:cs typeface="SimSun"/>
              </a:defRPr>
            </a:pPr>
            <a:r>
              <a:rPr sz="3150" b="0">
                <a:solidFill>
                  <a:srgbClr val="16120E"/>
                </a:solidFill>
                <a:latin typeface="SimSun"/>
                <a:ea typeface="SimSun"/>
                <a:cs typeface="SimSun"/>
              </a:rPr>
              <a:t>52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4C67BE9-E3A0-4239-B0F9-B6ED7B90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5435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可组合 Skill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EEB952A-15A6-4326-9A09-1EB4D764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8293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覆盖公司级运营知识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2304AE8-6F69-4F36-BD51-0B5DA3C3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958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2A4"/>
          </a:solidFill>
          <a:ln xmlns:a="http://schemas.openxmlformats.org/drawingml/2006/main" w="0">
            <a:solidFill>
              <a:srgbClr val="BDB2A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8B45C59-A235-4C4E-888A-9D8E736C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673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6120E"/>
                </a:solidFill>
                <a:latin typeface="SimSun"/>
                <a:ea typeface="SimSun"/>
                <a:cs typeface="SimSun"/>
              </a:defRPr>
            </a:pPr>
            <a:r>
              <a:rPr sz="3150" b="0">
                <a:solidFill>
                  <a:srgbClr val="16120E"/>
                </a:solidFill>
                <a:latin typeface="SimSun"/>
                <a:ea typeface="SimSun"/>
                <a:cs typeface="SimSun"/>
              </a:rPr>
              <a:t>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DF58889-C8FB-430E-9E7F-30347434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435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Harness 引擎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97DE429-FF12-4EC0-89B6-83E194B8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293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负责编排和质量检验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8E25BCC-6458-45F4-BB0D-1E0E4C38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7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94D4964-7CDC-4452-9CAC-634396B6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2A4"/>
          </a:solidFill>
          <a:ln xmlns:a="http://schemas.openxmlformats.org/drawingml/2006/main" w="0">
            <a:solidFill>
              <a:srgbClr val="BDB2A4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066FEA7-25BE-481A-B151-FA91A8C1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OperAI Harness / Competition Pitch</a:t>
            </a:r>
          </a:p>
        </p:txBody>
      </p:sp>
    </p:spTree>
    <p:extLst>
      <p:ext uri="{BB962C8B-B14F-4D97-AF65-F5344CB8AC3E}">
        <p14:creationId xmlns:p14="http://schemas.microsoft.com/office/powerpoint/2010/main" val="15428898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-bg">
            <a:extLst xmlns:a="http://schemas.openxmlformats.org/drawingml/2006/main">
              <a:ext uri="{FF2B5EF4-FFF2-40B4-BE49-F238E27FC236}">
                <a16:creationId xmlns:a16="http://schemas.microsoft.com/office/drawing/2014/main" id="{8B6BBE65-2969-4677-86E6-355CD925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76680852-2879-42FD-AEEE-5F160D3F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B430B3AF-5CD5-4DA7-B831-BCF74CA0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5668799D-6BB5-4C71-9C3B-2E1843C0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BF8EC5F2-C421-4182-9CC7-0B39E6A2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6A9AC09E-005E-44B0-BE6C-88061C76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816CCED4-040E-4734-B8A2-12C737DE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FDAA7A39-3034-47CD-B2C0-196DB9B7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A995265D-0C9B-4C7C-AF9B-C99DBCAF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42F92CFB-1D1A-4D06-A995-05C15F67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E839B47B-02F8-4D8D-826C-80A9613E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2DDFEA95-CDB3-4D21-9F79-BCF4B32B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BDAC4E22-B361-409E-8462-295D08F3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D22D184B-3E45-42AD-9D69-0EF67001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1AD29D8E-5561-47BE-ADFE-39C29A08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C99FD5A5-B808-4405-80F1-664CE200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C6DE902E-C970-4402-8AF7-21D3D219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7ECCFAE4-A512-4155-AD19-6CCB637A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966CE1BE-065C-444F-AF5F-D7289B39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BE94F442-4047-4EE0-AF21-C058171C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28DB3DDB-87CF-4A32-835F-6D5E8468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E670B80D-87D7-4107-BF54-30B0AFED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CFCD8CEC-8427-486E-A6AB-39F09740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4" name="grid-v">
            <a:extLst xmlns:a="http://schemas.openxmlformats.org/drawingml/2006/main">
              <a:ext uri="{FF2B5EF4-FFF2-40B4-BE49-F238E27FC236}">
                <a16:creationId xmlns:a16="http://schemas.microsoft.com/office/drawing/2014/main" id="{E4588017-F8EB-4442-A515-072E6EA1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5" name="grid-v">
            <a:extLst xmlns:a="http://schemas.openxmlformats.org/drawingml/2006/main">
              <a:ext uri="{FF2B5EF4-FFF2-40B4-BE49-F238E27FC236}">
                <a16:creationId xmlns:a16="http://schemas.microsoft.com/office/drawing/2014/main" id="{DE18E293-7C0F-4FDA-B76C-F4598F6E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6" name="grid-v">
            <a:extLst xmlns:a="http://schemas.openxmlformats.org/drawingml/2006/main">
              <a:ext uri="{FF2B5EF4-FFF2-40B4-BE49-F238E27FC236}">
                <a16:creationId xmlns:a16="http://schemas.microsoft.com/office/drawing/2014/main" id="{15FD0742-7F71-45CE-B721-D6F4291F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7" name="grid-v">
            <a:extLst xmlns:a="http://schemas.openxmlformats.org/drawingml/2006/main">
              <a:ext uri="{FF2B5EF4-FFF2-40B4-BE49-F238E27FC236}">
                <a16:creationId xmlns:a16="http://schemas.microsoft.com/office/drawing/2014/main" id="{F49777D8-AFD2-4A9B-892B-3A3493CA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8" name="grid-v">
            <a:extLst xmlns:a="http://schemas.openxmlformats.org/drawingml/2006/main">
              <a:ext uri="{FF2B5EF4-FFF2-40B4-BE49-F238E27FC236}">
                <a16:creationId xmlns:a16="http://schemas.microsoft.com/office/drawing/2014/main" id="{42C719F9-E87A-4B7A-BFA9-C12C4049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9" name="grid-v">
            <a:extLst xmlns:a="http://schemas.openxmlformats.org/drawingml/2006/main">
              <a:ext uri="{FF2B5EF4-FFF2-40B4-BE49-F238E27FC236}">
                <a16:creationId xmlns:a16="http://schemas.microsoft.com/office/drawing/2014/main" id="{E825DCB6-0F96-4055-BA15-03B34E95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A6E5A3F3-2C17-4716-9D7E-007F66FF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C06D6ACB-54AE-4736-A32B-4995DB69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A347BC51-72A5-47FD-9312-E85A1A98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95347C97-CED3-4E90-902A-7F470AA1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8EB4B03B-28DF-40AB-A97D-B0803E6B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B011F6D6-E76A-4172-9303-3D7AC2D3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9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6" name="grid-h">
            <a:extLst xmlns:a="http://schemas.openxmlformats.org/drawingml/2006/main">
              <a:ext uri="{FF2B5EF4-FFF2-40B4-BE49-F238E27FC236}">
                <a16:creationId xmlns:a16="http://schemas.microsoft.com/office/drawing/2014/main" id="{97CDC949-5DB4-4D8F-8F2D-EB134587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28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7" name="grid-h">
            <a:extLst xmlns:a="http://schemas.openxmlformats.org/drawingml/2006/main">
              <a:ext uri="{FF2B5EF4-FFF2-40B4-BE49-F238E27FC236}">
                <a16:creationId xmlns:a16="http://schemas.microsoft.com/office/drawing/2014/main" id="{E898049C-EC9D-48C7-BAED-889DE744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67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8" name="grid-h">
            <a:extLst xmlns:a="http://schemas.openxmlformats.org/drawingml/2006/main">
              <a:ext uri="{FF2B5EF4-FFF2-40B4-BE49-F238E27FC236}">
                <a16:creationId xmlns:a16="http://schemas.microsoft.com/office/drawing/2014/main" id="{FCD38901-93E2-4C97-A592-BE2DFA4F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05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9" name="grid-h">
            <a:extLst xmlns:a="http://schemas.openxmlformats.org/drawingml/2006/main">
              <a:ext uri="{FF2B5EF4-FFF2-40B4-BE49-F238E27FC236}">
                <a16:creationId xmlns:a16="http://schemas.microsoft.com/office/drawing/2014/main" id="{405E9E8F-589B-4677-9A23-C7C5BAFA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0" name="grid-h">
            <a:extLst xmlns:a="http://schemas.openxmlformats.org/drawingml/2006/main">
              <a:ext uri="{FF2B5EF4-FFF2-40B4-BE49-F238E27FC236}">
                <a16:creationId xmlns:a16="http://schemas.microsoft.com/office/drawing/2014/main" id="{0BEDF16F-806E-40F5-A61A-7EDA8163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1" name="grid-h">
            <a:extLst xmlns:a="http://schemas.openxmlformats.org/drawingml/2006/main">
              <a:ext uri="{FF2B5EF4-FFF2-40B4-BE49-F238E27FC236}">
                <a16:creationId xmlns:a16="http://schemas.microsoft.com/office/drawing/2014/main" id="{61089AC6-1C55-4325-8918-BC467DA2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19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2" name="grid-h">
            <a:extLst xmlns:a="http://schemas.openxmlformats.org/drawingml/2006/main">
              <a:ext uri="{FF2B5EF4-FFF2-40B4-BE49-F238E27FC236}">
                <a16:creationId xmlns:a16="http://schemas.microsoft.com/office/drawing/2014/main" id="{6B2D0DA6-055A-4116-9AEC-F09FE02F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3" name="grid-h">
            <a:extLst xmlns:a="http://schemas.openxmlformats.org/drawingml/2006/main">
              <a:ext uri="{FF2B5EF4-FFF2-40B4-BE49-F238E27FC236}">
                <a16:creationId xmlns:a16="http://schemas.microsoft.com/office/drawing/2014/main" id="{AD4D6348-6A81-46C3-8374-81F18AA2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95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4" name="grid-h">
            <a:extLst xmlns:a="http://schemas.openxmlformats.org/drawingml/2006/main">
              <a:ext uri="{FF2B5EF4-FFF2-40B4-BE49-F238E27FC236}">
                <a16:creationId xmlns:a16="http://schemas.microsoft.com/office/drawing/2014/main" id="{B9A3DC67-756F-4E09-9893-F74A6DD9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5" name="grid-h">
            <a:extLst xmlns:a="http://schemas.openxmlformats.org/drawingml/2006/main">
              <a:ext uri="{FF2B5EF4-FFF2-40B4-BE49-F238E27FC236}">
                <a16:creationId xmlns:a16="http://schemas.microsoft.com/office/drawing/2014/main" id="{E1A46A77-32CE-49C8-AF6E-5649D999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6" name="top-red-rule">
            <a:extLst xmlns:a="http://schemas.openxmlformats.org/drawingml/2006/main">
              <a:ext uri="{FF2B5EF4-FFF2-40B4-BE49-F238E27FC236}">
                <a16:creationId xmlns:a16="http://schemas.microsoft.com/office/drawing/2014/main" id="{DDF40D9B-EC28-40B6-88E2-F17387AE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47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1FBCDE86-5353-4905-8A2D-2B81302D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461"/>
          </a:solidFill>
          <a:ln xmlns:a="http://schemas.openxmlformats.org/drawingml/2006/main" w="0">
            <a:solidFill>
              <a:srgbClr val="E2C461"/>
            </a:solidFill>
            <a:prstDash val="solid"/>
          </a:ln>
        </p:spPr>
      </p:sp>
      <p:sp>
        <p:nvSpPr>
          <p:cNvPr id="4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0C05763-730B-4055-9718-3C226FF6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4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A5BDFA-0D9C-477F-BDE2-3FA6DB3C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PROBLEM</a:t>
            </a:r>
          </a:p>
        </p:txBody>
      </p:sp>
      <p:sp>
        <p:nvSpPr>
          <p:cNvPr id="50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8B26F53-B54F-468B-944B-2A2D32FD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6120E"/>
                </a:solidFill>
                <a:latin typeface="SimSun"/>
                <a:ea typeface="SimSun"/>
                <a:cs typeface="SimSun"/>
              </a:defRPr>
            </a:pPr>
            <a:r>
              <a:rPr sz="3900" b="0">
                <a:solidFill>
                  <a:srgbClr val="16120E"/>
                </a:solidFill>
                <a:latin typeface="SimSun"/>
                <a:ea typeface="SimSun"/>
                <a:cs typeface="SimSun"/>
              </a:rPr>
              <a:t>运营团队不缺工具，缺的是一套能沉淀的方法系统。</a:t>
            </a:r>
          </a:p>
        </p:txBody>
      </p:sp>
      <p:sp>
        <p:nvSpPr>
          <p:cNvPr id="51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9CE60ABD-EF62-40B4-A07E-A0357570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今天的一线运营经常在文档、表格、平台后台和 AI 对话框之间切换；真正昂贵的不是生成内容，而是把任务拆清楚、协调好、复核完。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75BDA9-DFF5-40C5-BC09-932CB75D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5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5501251-A391-4DA5-ABCA-42EC69A8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2A4"/>
          </a:solidFill>
          <a:ln xmlns:a="http://schemas.openxmlformats.org/drawingml/2006/main" w="0">
            <a:solidFill>
              <a:srgbClr val="BDB2A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308D5C-FB3D-4F1F-9994-DDC0298C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OperAI Harness / Competition Pitch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2DBAC3-C1A7-4DE9-A9A0-69876A4B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24288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A6E6677-087D-4D91-99FF-50ADBA6B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38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3B23C2-C119-4120-9BE2-DF266A6D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2009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rPr>
              <a:t>痛点一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5AFC370-ECFC-4BB2-8A73-CE393646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工具孤岛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72B221F-55BD-4A34-BE7A-004E1245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0097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素材、数据、排期、审核分散在不同系统里，团队无法复用同一套上下文。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A7335D1-1CE7-4FEC-A21B-FB81DAC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52800"/>
            <a:ext cx="24288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E39C7A1-F602-4808-9BDA-3645BB77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52800"/>
            <a:ext cx="38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746CC01-A759-4D0B-A3DB-E8F92A3B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43300"/>
            <a:ext cx="2009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rPr>
              <a:t>痛点二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AC91470-7CC5-4D1B-8ABC-E2444C04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8620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重复交付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BB8616B-C502-459D-9504-5810AF32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43400"/>
            <a:ext cx="20097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同一活动要反复改成不同平台、不同岗位、不同汇报口径。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C2050A3-3625-4E48-808C-944F8920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52800"/>
            <a:ext cx="24288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240D59D-9F7A-4015-8204-A6210237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52800"/>
            <a:ext cx="38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45FD186-AD19-4208-8B3C-D47185E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2009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rPr>
              <a:t>痛点三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013392B-04FA-444A-9732-3F1B4CBF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8620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经验不可追踪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4976B38-8601-4B84-8ED6-A7C56A35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43400"/>
            <a:ext cx="20097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方案为什么这么写、风险如何判断、证据来自哪里，往往留在个人经验里。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1A0A508-9438-4EA3-855B-09FA5ED3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52800"/>
            <a:ext cx="24288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0A49E25-53BA-40F5-8308-48898563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52800"/>
            <a:ext cx="38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724CF1B-0666-483D-9937-ABF20774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43300"/>
            <a:ext cx="2009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rPr>
              <a:t>痛点四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EF6CC7C-6EEB-4959-AC74-EE20A82C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8620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审核链路断裂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5E9DDCC-3DFB-4108-86BB-61E3078B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43400"/>
            <a:ext cx="20097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AI 输出能写，但不一定能解释、能复核、能交给业务负责人。</a:t>
            </a:r>
          </a:p>
        </p:txBody>
      </p:sp>
    </p:spTree>
    <p:extLst>
      <p:ext uri="{BB962C8B-B14F-4D97-AF65-F5344CB8AC3E}">
        <p14:creationId xmlns:p14="http://schemas.microsoft.com/office/powerpoint/2010/main" val="1640996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-bg">
            <a:extLst xmlns:a="http://schemas.openxmlformats.org/drawingml/2006/main">
              <a:ext uri="{FF2B5EF4-FFF2-40B4-BE49-F238E27FC236}">
                <a16:creationId xmlns:a16="http://schemas.microsoft.com/office/drawing/2014/main" id="{F299A507-DF45-48C7-9EDE-EBD71513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08B2B033-6445-4A65-AF66-31524E36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0DCEC238-5484-4661-8F8A-FB93E6AB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52C1E8E7-D704-452C-B666-F1B8ABF2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B669878D-37B4-4F89-898A-99089FE9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A508D2FB-F0E7-4BDD-A0EA-459E25BD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D91CE3DB-3382-4B26-940F-B0556AFD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F9441D2F-3AF5-44C8-AD7F-AB906AE0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1EF17FDC-5E34-4B5D-A85B-84BEEE8F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B2053296-76C4-47E7-8A57-C62B5BF8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B7065F08-977E-46DB-8956-D05EFEB1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7D94FEDB-C31F-48AB-A874-6DE1886B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9E272F96-63B9-4029-9C43-E8ED50AC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2296F536-4B64-4D2C-B9D6-ABDC192C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D3F12027-B131-4813-B3F6-9BA9F304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69A77C0C-FB19-406E-B272-9C20673F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BC19CF45-524D-4717-931D-F10DDCDA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2ABACA1C-42DE-4C43-B9C3-D2B952F5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1876A01D-A8C7-4FDC-A577-6298A15A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8738704B-7226-4E7B-9E39-D5A23C91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F973F102-B487-4627-A619-DF438168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56615511-3C0F-4FC7-BD49-D355C446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9D055B2C-14FE-4301-8145-A268EBC3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4" name="grid-v">
            <a:extLst xmlns:a="http://schemas.openxmlformats.org/drawingml/2006/main">
              <a:ext uri="{FF2B5EF4-FFF2-40B4-BE49-F238E27FC236}">
                <a16:creationId xmlns:a16="http://schemas.microsoft.com/office/drawing/2014/main" id="{6C40ABAD-540C-42EF-8C25-769F293B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5" name="grid-v">
            <a:extLst xmlns:a="http://schemas.openxmlformats.org/drawingml/2006/main">
              <a:ext uri="{FF2B5EF4-FFF2-40B4-BE49-F238E27FC236}">
                <a16:creationId xmlns:a16="http://schemas.microsoft.com/office/drawing/2014/main" id="{89688794-BBBE-40AD-80EE-4BDFB4D0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6" name="grid-v">
            <a:extLst xmlns:a="http://schemas.openxmlformats.org/drawingml/2006/main">
              <a:ext uri="{FF2B5EF4-FFF2-40B4-BE49-F238E27FC236}">
                <a16:creationId xmlns:a16="http://schemas.microsoft.com/office/drawing/2014/main" id="{F0DACCC5-A685-47CF-AD84-B17FAF6C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7" name="grid-v">
            <a:extLst xmlns:a="http://schemas.openxmlformats.org/drawingml/2006/main">
              <a:ext uri="{FF2B5EF4-FFF2-40B4-BE49-F238E27FC236}">
                <a16:creationId xmlns:a16="http://schemas.microsoft.com/office/drawing/2014/main" id="{73DCD107-E65A-4E28-A8E2-C54D3771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8" name="grid-v">
            <a:extLst xmlns:a="http://schemas.openxmlformats.org/drawingml/2006/main">
              <a:ext uri="{FF2B5EF4-FFF2-40B4-BE49-F238E27FC236}">
                <a16:creationId xmlns:a16="http://schemas.microsoft.com/office/drawing/2014/main" id="{C64C2CE2-6F85-4E6A-95A4-DA85B6DD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9" name="grid-v">
            <a:extLst xmlns:a="http://schemas.openxmlformats.org/drawingml/2006/main">
              <a:ext uri="{FF2B5EF4-FFF2-40B4-BE49-F238E27FC236}">
                <a16:creationId xmlns:a16="http://schemas.microsoft.com/office/drawing/2014/main" id="{0D07A4DA-BB24-42B9-95B8-64A0898F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790A2CED-FA18-4382-8276-D641142C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6E46E4E0-F5B7-4594-9C02-34D1C0BF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79F5269A-870D-44E6-A34F-749CB1CC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69848879-C8D2-4D09-932E-0A636DF4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9B96142E-B3AF-4CCB-9FBE-AB48978C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D43D820B-8BD9-4B13-85BA-F5FF3766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9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6" name="grid-h">
            <a:extLst xmlns:a="http://schemas.openxmlformats.org/drawingml/2006/main">
              <a:ext uri="{FF2B5EF4-FFF2-40B4-BE49-F238E27FC236}">
                <a16:creationId xmlns:a16="http://schemas.microsoft.com/office/drawing/2014/main" id="{BF7E4341-BDCC-43E5-AC27-9862EA79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28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7" name="grid-h">
            <a:extLst xmlns:a="http://schemas.openxmlformats.org/drawingml/2006/main">
              <a:ext uri="{FF2B5EF4-FFF2-40B4-BE49-F238E27FC236}">
                <a16:creationId xmlns:a16="http://schemas.microsoft.com/office/drawing/2014/main" id="{6DDEB21B-6F68-4377-AF62-6B94A0F2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67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8" name="grid-h">
            <a:extLst xmlns:a="http://schemas.openxmlformats.org/drawingml/2006/main">
              <a:ext uri="{FF2B5EF4-FFF2-40B4-BE49-F238E27FC236}">
                <a16:creationId xmlns:a16="http://schemas.microsoft.com/office/drawing/2014/main" id="{56FC26D8-2617-40AB-BE0D-6520AAC2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05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9" name="grid-h">
            <a:extLst xmlns:a="http://schemas.openxmlformats.org/drawingml/2006/main">
              <a:ext uri="{FF2B5EF4-FFF2-40B4-BE49-F238E27FC236}">
                <a16:creationId xmlns:a16="http://schemas.microsoft.com/office/drawing/2014/main" id="{1F6E7653-F121-485B-8D68-4A2F7F32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0" name="grid-h">
            <a:extLst xmlns:a="http://schemas.openxmlformats.org/drawingml/2006/main">
              <a:ext uri="{FF2B5EF4-FFF2-40B4-BE49-F238E27FC236}">
                <a16:creationId xmlns:a16="http://schemas.microsoft.com/office/drawing/2014/main" id="{436A544A-1140-4951-97FE-8FDEB010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1" name="grid-h">
            <a:extLst xmlns:a="http://schemas.openxmlformats.org/drawingml/2006/main">
              <a:ext uri="{FF2B5EF4-FFF2-40B4-BE49-F238E27FC236}">
                <a16:creationId xmlns:a16="http://schemas.microsoft.com/office/drawing/2014/main" id="{FCF3C97D-028C-473D-A7F7-A0B93420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19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2" name="grid-h">
            <a:extLst xmlns:a="http://schemas.openxmlformats.org/drawingml/2006/main">
              <a:ext uri="{FF2B5EF4-FFF2-40B4-BE49-F238E27FC236}">
                <a16:creationId xmlns:a16="http://schemas.microsoft.com/office/drawing/2014/main" id="{04E98FD9-5ACB-4EBA-B772-E2D8F3C6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3" name="grid-h">
            <a:extLst xmlns:a="http://schemas.openxmlformats.org/drawingml/2006/main">
              <a:ext uri="{FF2B5EF4-FFF2-40B4-BE49-F238E27FC236}">
                <a16:creationId xmlns:a16="http://schemas.microsoft.com/office/drawing/2014/main" id="{7335F337-E781-4959-99B9-B49C05E2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95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4" name="grid-h">
            <a:extLst xmlns:a="http://schemas.openxmlformats.org/drawingml/2006/main">
              <a:ext uri="{FF2B5EF4-FFF2-40B4-BE49-F238E27FC236}">
                <a16:creationId xmlns:a16="http://schemas.microsoft.com/office/drawing/2014/main" id="{0171AA15-EADB-41E0-B860-8E4D1BB4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5" name="grid-h">
            <a:extLst xmlns:a="http://schemas.openxmlformats.org/drawingml/2006/main">
              <a:ext uri="{FF2B5EF4-FFF2-40B4-BE49-F238E27FC236}">
                <a16:creationId xmlns:a16="http://schemas.microsoft.com/office/drawing/2014/main" id="{495FBE29-8EAA-4CC0-A4C7-133E4522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6" name="top-red-rule">
            <a:extLst xmlns:a="http://schemas.openxmlformats.org/drawingml/2006/main">
              <a:ext uri="{FF2B5EF4-FFF2-40B4-BE49-F238E27FC236}">
                <a16:creationId xmlns:a16="http://schemas.microsoft.com/office/drawing/2014/main" id="{8BDB70A1-478C-418C-B5C5-F3B81483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47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D848A708-3CF2-4A66-A4CD-8FC556DA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461"/>
          </a:solidFill>
          <a:ln xmlns:a="http://schemas.openxmlformats.org/drawingml/2006/main" w="0">
            <a:solidFill>
              <a:srgbClr val="E2C461"/>
            </a:solidFill>
            <a:prstDash val="solid"/>
          </a:ln>
        </p:spPr>
      </p:sp>
      <p:sp>
        <p:nvSpPr>
          <p:cNvPr id="4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896A40B-AFF3-4CA8-99D4-0D2F4CEF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4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ADF02FF-64F1-49F0-8B2B-C31DC881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INSIGHT</a:t>
            </a:r>
          </a:p>
        </p:txBody>
      </p:sp>
      <p:sp>
        <p:nvSpPr>
          <p:cNvPr id="50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5D10C73-4FB3-421A-A0D5-433026B9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6120E"/>
                </a:solidFill>
                <a:latin typeface="SimSun"/>
                <a:ea typeface="SimSun"/>
                <a:cs typeface="SimSun"/>
              </a:defRPr>
            </a:pPr>
            <a:r>
              <a:rPr sz="3900" b="0">
                <a:solidFill>
                  <a:srgbClr val="16120E"/>
                </a:solidFill>
                <a:latin typeface="SimSun"/>
                <a:ea typeface="SimSun"/>
                <a:cs typeface="SimSun"/>
              </a:rPr>
              <a:t>聊天窗口解决单次生成，不能承接团队级运营交付。</a:t>
            </a:r>
          </a:p>
        </p:txBody>
      </p:sp>
      <p:sp>
        <p:nvSpPr>
          <p:cNvPr id="51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5D5B6055-5A75-46B4-854B-290187EA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OperAI 的判断是：企业运营需要的不是“更多 Prompt”，而是把岗位知识、执行技能和质量标准组织成可运行的工作系统。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825B16F-142F-4446-BFA9-19FFA4C7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74D7218-EA14-440C-BC6A-633171C9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2A4"/>
          </a:solidFill>
          <a:ln xmlns:a="http://schemas.openxmlformats.org/drawingml/2006/main" w="0">
            <a:solidFill>
              <a:srgbClr val="BDB2A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007E6B-D7D6-48D1-966D-FD2F19CB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OperAI Harness / Competition Pitch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1DB052-9DCE-4F38-8D50-E87189D8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8204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F0B"/>
          </a:solidFill>
          <a:ln xmlns:a="http://schemas.openxmlformats.org/drawingml/2006/main" w="0">
            <a:solidFill>
              <a:srgbClr val="120F0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6707F69-A4FD-473F-AE65-1C4328E6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198B333-BE6E-446B-9D83-BEE381B9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575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093776F-0057-4F68-9994-AE5BA133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575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A9B2B04-E10B-4FD1-8B14-CB88F65B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2575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B11592B-E908-4F7E-91D9-B1A16576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575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DF49BA3-6783-45D0-A0AC-1774A1B7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575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8C9581D-3D51-4C6D-9C01-8BC7DBAC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575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9B926BF-2C39-490D-858C-6DC2E5E2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BD91A77-B5E4-458F-B5BE-A404D93F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575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E41DF81-74D5-4746-98B3-6895BB19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1FCA7FE-C996-409B-A4B0-0CE44E5E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575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836E239-0D13-47C6-8304-D4228C20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575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24AAD8F-D1E6-4343-8108-D7FA5B05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575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182CE0B-0D47-4327-86EF-D3D2D38A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575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CA94FB0-3035-46B8-9530-23B9AE69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8C8CA0C-1245-46CF-94B0-05403AF1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575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D253002-CE81-4F65-A5D5-87A1E3E5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6BBD75C-4102-4AB0-8D13-64294710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575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42BCDEB-F38E-4F9D-A783-8292AEDE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575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CE150CB-91B1-41D3-BFD4-5542BBE3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575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47C42AD-6F0A-4A08-B464-09681463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2575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D882EBF-13EF-4B80-88FE-BF707EB8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325755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C11020D-DDD4-42A3-BAC2-D8A1ED42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950AC3C-927B-4AF1-AF77-E313B04A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4BB559E-38AC-4971-94E7-96EE9CE3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E520DC9-3D6E-4E63-B80D-E8E5698D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1B96C13-16D2-4AF4-A10A-B0F7EB53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10172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8CFC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88202EF-D79E-4375-947C-15B84F9D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561FA0F-B57F-4018-8544-88CC6B4B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338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9B6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B89B65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3C6A8CD-29FD-4931-B7EC-C5941770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052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输入不完整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683D08C-D5A2-4120-9E24-F305D132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24275"/>
            <a:ext cx="7353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运营任务通常只有素材片段，系统需要先补成任务上下文。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01D2E0E-4A3A-45A6-B62F-8584557E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0"/>
            <a:ext cx="10172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8CFC1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665CF78-E645-4D92-A523-3957E82A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B186E37-1417-4B45-83C6-4375C340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672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9B6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B89B65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41AA4A5-FAE5-486D-B144-E68195E6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386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能力要组合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098BBA5-DB69-4E03-BB74-7E242F46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57675"/>
            <a:ext cx="7353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不同岗位需要不同 Skill，不应全部默认变成社媒文案。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D3E4E36-DA97-4770-8297-5478EDD8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10172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8CFC1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B691F8F-6D60-466A-80F7-4D8E1DDD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B9D00B9-D2B9-4E8E-8209-FE052713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006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9B6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B89B65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734F123-B1D2-4B0B-AEBF-06EDC0E4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720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结果要复核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A157337-117D-4916-BDF9-0A185293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791075"/>
            <a:ext cx="7353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交付物必须留下证据、风险、质量检验和可编辑版本。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4EA6A06-DF76-4270-B959-1668EBD8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816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所以我们把 AI 从“聊天工具”改造成“运营 Harness”。</a:t>
            </a:r>
          </a:p>
        </p:txBody>
      </p:sp>
    </p:spTree>
    <p:extLst>
      <p:ext uri="{BB962C8B-B14F-4D97-AF65-F5344CB8AC3E}">
        <p14:creationId xmlns:p14="http://schemas.microsoft.com/office/powerpoint/2010/main" val="17736364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-bg">
            <a:extLst xmlns:a="http://schemas.openxmlformats.org/drawingml/2006/main">
              <a:ext uri="{FF2B5EF4-FFF2-40B4-BE49-F238E27FC236}">
                <a16:creationId xmlns:a16="http://schemas.microsoft.com/office/drawing/2014/main" id="{544E1BE7-EF98-4B0C-92F4-03DABB22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F18D96CA-8B73-4F46-8883-AC826EDE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B7A1EDC3-24D5-4C5A-9F6E-0283AFD4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FF323226-7433-4155-88E7-35499815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77F02007-F830-4581-BCCA-ECE4158A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DC6D6236-CB6C-488F-A15E-0F9B879C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7E597F67-DE9F-4F5B-82B7-050D36EF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484AC3F7-FBF9-4937-8E38-BA434A48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46EAA7C4-4B82-48C3-BD3A-DD6C53E4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F3490768-ECB6-402A-862F-C7D0F72F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5DC9F2DC-81F5-420B-946D-0628B1C3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0A60DC73-5F7C-4345-86B2-9EADB373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5CC9A895-6516-407E-8A1E-5BC50C73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A0A78898-838B-447E-99EC-848B841F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BCAFEB7B-EEC2-4451-BAA6-72BB5694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2F6E5B1D-F6B8-432D-81DD-554EE4A1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E91E9EB8-05F6-4D43-9D94-6C9B3F3A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6D524DE7-A54C-4B8D-9553-6398C91D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08BF4D91-A014-415D-BF0D-8DE03AB5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CD8D6B93-7691-437F-87D1-BEF0CCCA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B9A22731-5DEC-4EE5-8E6A-A07B642E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7CCC9D23-361C-441F-B096-430F2914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A825E754-C45E-4D74-B3E7-3E405803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4" name="grid-v">
            <a:extLst xmlns:a="http://schemas.openxmlformats.org/drawingml/2006/main">
              <a:ext uri="{FF2B5EF4-FFF2-40B4-BE49-F238E27FC236}">
                <a16:creationId xmlns:a16="http://schemas.microsoft.com/office/drawing/2014/main" id="{BB9E39BD-6BF7-4DF0-BA85-972E24E6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5" name="grid-v">
            <a:extLst xmlns:a="http://schemas.openxmlformats.org/drawingml/2006/main">
              <a:ext uri="{FF2B5EF4-FFF2-40B4-BE49-F238E27FC236}">
                <a16:creationId xmlns:a16="http://schemas.microsoft.com/office/drawing/2014/main" id="{AADFE41D-D4DE-4298-A8BE-6ADBF603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6" name="grid-v">
            <a:extLst xmlns:a="http://schemas.openxmlformats.org/drawingml/2006/main">
              <a:ext uri="{FF2B5EF4-FFF2-40B4-BE49-F238E27FC236}">
                <a16:creationId xmlns:a16="http://schemas.microsoft.com/office/drawing/2014/main" id="{37BE359A-206F-4A37-885D-77D3089B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7" name="grid-v">
            <a:extLst xmlns:a="http://schemas.openxmlformats.org/drawingml/2006/main">
              <a:ext uri="{FF2B5EF4-FFF2-40B4-BE49-F238E27FC236}">
                <a16:creationId xmlns:a16="http://schemas.microsoft.com/office/drawing/2014/main" id="{6576B5A1-EB2B-4152-A11C-C5C85343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8" name="grid-v">
            <a:extLst xmlns:a="http://schemas.openxmlformats.org/drawingml/2006/main">
              <a:ext uri="{FF2B5EF4-FFF2-40B4-BE49-F238E27FC236}">
                <a16:creationId xmlns:a16="http://schemas.microsoft.com/office/drawing/2014/main" id="{63CA61F8-914D-49AA-AA84-FC3DBD90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9" name="grid-v">
            <a:extLst xmlns:a="http://schemas.openxmlformats.org/drawingml/2006/main">
              <a:ext uri="{FF2B5EF4-FFF2-40B4-BE49-F238E27FC236}">
                <a16:creationId xmlns:a16="http://schemas.microsoft.com/office/drawing/2014/main" id="{78707A3C-FD74-4786-B5D0-46FDE8D7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68AC1113-CCD5-4CC5-9398-8C1E8ED6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CAF9A65D-F8C5-4E95-BE9B-5EAC0EA9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740B247A-6182-4565-8D43-17AFB73F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C2F4A61A-61FC-4871-85A7-614ADC61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237AE040-6DC8-4B2C-922B-320F8010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16B7FC8E-DADA-49F5-ABA6-044BEB56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9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6" name="grid-h">
            <a:extLst xmlns:a="http://schemas.openxmlformats.org/drawingml/2006/main">
              <a:ext uri="{FF2B5EF4-FFF2-40B4-BE49-F238E27FC236}">
                <a16:creationId xmlns:a16="http://schemas.microsoft.com/office/drawing/2014/main" id="{0F66763F-B7DF-4CDE-B8E0-346AF933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28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7" name="grid-h">
            <a:extLst xmlns:a="http://schemas.openxmlformats.org/drawingml/2006/main">
              <a:ext uri="{FF2B5EF4-FFF2-40B4-BE49-F238E27FC236}">
                <a16:creationId xmlns:a16="http://schemas.microsoft.com/office/drawing/2014/main" id="{76A13052-8F3A-4535-ACB0-4A23AA9D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67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8" name="grid-h">
            <a:extLst xmlns:a="http://schemas.openxmlformats.org/drawingml/2006/main">
              <a:ext uri="{FF2B5EF4-FFF2-40B4-BE49-F238E27FC236}">
                <a16:creationId xmlns:a16="http://schemas.microsoft.com/office/drawing/2014/main" id="{F1342596-8B58-4A90-9ACA-6DBB36DD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05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9" name="grid-h">
            <a:extLst xmlns:a="http://schemas.openxmlformats.org/drawingml/2006/main">
              <a:ext uri="{FF2B5EF4-FFF2-40B4-BE49-F238E27FC236}">
                <a16:creationId xmlns:a16="http://schemas.microsoft.com/office/drawing/2014/main" id="{B5DFC2B7-DE52-40F3-A44E-957CB563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0" name="grid-h">
            <a:extLst xmlns:a="http://schemas.openxmlformats.org/drawingml/2006/main">
              <a:ext uri="{FF2B5EF4-FFF2-40B4-BE49-F238E27FC236}">
                <a16:creationId xmlns:a16="http://schemas.microsoft.com/office/drawing/2014/main" id="{00CFD8D7-D18F-4C77-A58E-330DCB60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1" name="grid-h">
            <a:extLst xmlns:a="http://schemas.openxmlformats.org/drawingml/2006/main">
              <a:ext uri="{FF2B5EF4-FFF2-40B4-BE49-F238E27FC236}">
                <a16:creationId xmlns:a16="http://schemas.microsoft.com/office/drawing/2014/main" id="{53145627-51BB-443F-B195-97E610C1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19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2" name="grid-h">
            <a:extLst xmlns:a="http://schemas.openxmlformats.org/drawingml/2006/main">
              <a:ext uri="{FF2B5EF4-FFF2-40B4-BE49-F238E27FC236}">
                <a16:creationId xmlns:a16="http://schemas.microsoft.com/office/drawing/2014/main" id="{448E1B76-B27A-4AC1-BD8D-DFB59E01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3" name="grid-h">
            <a:extLst xmlns:a="http://schemas.openxmlformats.org/drawingml/2006/main">
              <a:ext uri="{FF2B5EF4-FFF2-40B4-BE49-F238E27FC236}">
                <a16:creationId xmlns:a16="http://schemas.microsoft.com/office/drawing/2014/main" id="{1A611EC2-1E20-4E0D-90FA-FE6FDB3A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95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4" name="grid-h">
            <a:extLst xmlns:a="http://schemas.openxmlformats.org/drawingml/2006/main">
              <a:ext uri="{FF2B5EF4-FFF2-40B4-BE49-F238E27FC236}">
                <a16:creationId xmlns:a16="http://schemas.microsoft.com/office/drawing/2014/main" id="{50C31BA0-D200-451B-937F-BF40509D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5" name="grid-h">
            <a:extLst xmlns:a="http://schemas.openxmlformats.org/drawingml/2006/main">
              <a:ext uri="{FF2B5EF4-FFF2-40B4-BE49-F238E27FC236}">
                <a16:creationId xmlns:a16="http://schemas.microsoft.com/office/drawing/2014/main" id="{5C712E0C-59E4-474A-B264-97E79DBC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6" name="top-red-rule">
            <a:extLst xmlns:a="http://schemas.openxmlformats.org/drawingml/2006/main">
              <a:ext uri="{FF2B5EF4-FFF2-40B4-BE49-F238E27FC236}">
                <a16:creationId xmlns:a16="http://schemas.microsoft.com/office/drawing/2014/main" id="{EF79667A-95B7-4E4D-9C1B-A6D7BF56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47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578AA325-3980-473F-8243-120D7951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461"/>
          </a:solidFill>
          <a:ln xmlns:a="http://schemas.openxmlformats.org/drawingml/2006/main" w="0">
            <a:solidFill>
              <a:srgbClr val="E2C461"/>
            </a:solidFill>
            <a:prstDash val="solid"/>
          </a:ln>
        </p:spPr>
      </p:sp>
      <p:sp>
        <p:nvSpPr>
          <p:cNvPr id="4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E022C5C-CEE2-4A66-A70A-477D98CB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4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DECF8AF-890A-43D8-9709-F67C0F93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PRODUCT</a:t>
            </a:r>
          </a:p>
        </p:txBody>
      </p:sp>
      <p:sp>
        <p:nvSpPr>
          <p:cNvPr id="50" name="claim-title">
            <a:extLst xmlns:a="http://schemas.openxmlformats.org/drawingml/2006/main">
              <a:ext uri="{FF2B5EF4-FFF2-40B4-BE49-F238E27FC236}">
                <a16:creationId xmlns:a16="http://schemas.microsoft.com/office/drawing/2014/main" id="{5878D53E-EF20-498A-A1DF-F9370334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6120E"/>
                </a:solidFill>
                <a:latin typeface="SimSun"/>
                <a:ea typeface="SimSun"/>
                <a:cs typeface="SimSun"/>
              </a:defRPr>
            </a:pPr>
            <a:r>
              <a:rPr sz="3900" b="0">
                <a:solidFill>
                  <a:srgbClr val="16120E"/>
                </a:solidFill>
                <a:latin typeface="SimSun"/>
                <a:ea typeface="SimSun"/>
                <a:cs typeface="SimSun"/>
              </a:rPr>
              <a:t>前台按岗位进入，后台由 Harness 自动编排。</a:t>
            </a:r>
          </a:p>
        </p:txBody>
      </p:sp>
      <p:sp>
        <p:nvSpPr>
          <p:cNvPr id="51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56894A7E-2613-4FA5-8BFC-AE53383A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用户看到的是熟悉的运营职能；系统背后选择 Skill、组织顺序、传递上下文，并把结果送进质量检验。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FF0F928-5A85-4758-A68E-5AB30183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DC3997B-549F-4479-A358-09258D5D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2A4"/>
          </a:solidFill>
          <a:ln xmlns:a="http://schemas.openxmlformats.org/drawingml/2006/main" w="0">
            <a:solidFill>
              <a:srgbClr val="BDB2A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1B11E71-D550-4E24-941B-E15C4BE2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OperAI Harness / Competition Pitch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33FD4A-4C09-42E0-BF1B-7D1F44A2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2324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43127A1-54E6-4AF8-A59C-6917F662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AB89102-56D3-4628-B4E7-60BE580F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rPr>
              <a:t>职能入口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84812F-48E1-464D-A01A-992A02CD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内容运营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C2182B-FC25-45DD-B1F8-B8356594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1905000" cy="-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050049C-69E6-4829-99D5-B9D89BD4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33750"/>
            <a:ext cx="2324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F359F7C-B423-4A94-9BF0-DAC97835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242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rPr>
              <a:t>职能入口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C86CD4E-DBA1-4128-875B-4E4BF011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671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用户运营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AA8E49D-2673-4BBF-A67F-7901E9E5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24350"/>
            <a:ext cx="1905000" cy="-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7D45C36-67F9-4524-9A1B-53D82425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2324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79E58F8-AC6A-48BD-AA94-B2DA2090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42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rPr>
              <a:t>职能入口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D11059-027B-432B-A119-6DE4CACC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671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活动运营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A25EE64-FA40-427B-82B3-14C60BD8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24350"/>
            <a:ext cx="1905000" cy="-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4E64D6E-08F4-4666-BC26-52AEB419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33750"/>
            <a:ext cx="2324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B8303F2-BBD0-46BC-BA2F-3E5472AB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242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rPr>
              <a:t>职能入口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923D8A4-45DF-481B-804A-E62F31D3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671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渠道运营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A31DDA9-D39A-440F-8059-33EAE43F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24350"/>
            <a:ext cx="1905000" cy="-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80BCFDD-7C43-4BCB-85FB-26525607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2324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9DB1034-805A-4B10-B723-E30F8D35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rPr>
              <a:t>职能入口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97D4BC9-8D74-40CA-BFC3-CC5DC85C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增长投放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22EB5ED-8A58-4A2E-99F0-05EB809A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1905000" cy="-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E73E06F-8277-4300-BD99-8C60D866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2324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9B45089-A44C-443E-B8D8-3911FF59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386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rPr>
              <a:t>职能入口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AA91ECB-9803-45BD-A640-0FB35753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815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产品运营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C4BCC5E-4621-4FBA-B63B-87E38561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38750"/>
            <a:ext cx="1905000" cy="-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CA7012F-48D7-4712-B34F-A8968D5D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48150"/>
            <a:ext cx="2324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3C5F881-6ECF-4847-9539-E3E25E46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rPr>
              <a:t>职能入口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CD921D9-1703-45D8-8473-B1E6354B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815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社群运营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73FDB5E-B214-47FF-83D9-BA686D7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38750"/>
            <a:ext cx="1905000" cy="-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FA41AD2-A5AD-4D2B-9013-CDFF7D4B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48150"/>
            <a:ext cx="2324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F50B574-9301-4938-88A5-1CA48432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386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rPr>
              <a:t>职能入口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EBB771B-033D-4777-865C-2E0D18F0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815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市场策略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AC09599-FA23-432C-9F4B-7B3A266F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38750"/>
            <a:ext cx="1905000" cy="-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E8A7C88-6C47-4FCF-A733-8DD301BA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62600"/>
            <a:ext cx="885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D58687A-0817-4BFB-BE2F-415D3AAB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7721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用户不需要理解底层技术，只需要选择自己的运营岗位。</a:t>
            </a:r>
          </a:p>
        </p:txBody>
      </p:sp>
    </p:spTree>
    <p:extLst>
      <p:ext uri="{BB962C8B-B14F-4D97-AF65-F5344CB8AC3E}">
        <p14:creationId xmlns:p14="http://schemas.microsoft.com/office/powerpoint/2010/main" val="713834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-bg">
            <a:extLst xmlns:a="http://schemas.openxmlformats.org/drawingml/2006/main">
              <a:ext uri="{FF2B5EF4-FFF2-40B4-BE49-F238E27FC236}">
                <a16:creationId xmlns:a16="http://schemas.microsoft.com/office/drawing/2014/main" id="{DE033857-CD02-4088-B8DD-6ECB12F4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D8046444-4A04-4953-9326-C766A60C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2E1EDCCD-332B-4F04-807D-BB17E152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B708322C-5A9A-4D84-BEAF-578640FA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8384CE4C-AFBF-4102-9341-AB7041F6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4CE01BAA-0265-4840-8562-41E71D70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B0D9CED9-09CC-44B2-8972-B8229583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774586AA-3B1C-4C73-91F5-CF9F2B1F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2DC7DD06-580F-4DEA-8E72-BEC7D2E9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0F481450-50A4-4981-8F07-B410B94F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B05275AC-496A-4951-9851-702E6BA8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F09823BD-DEF0-4A53-BF3E-81F8F98B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0D4C7F8C-E3D7-4CCC-BD5A-DF37546D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3830A51F-611A-4D5A-BC99-4B846667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C8F1A66F-B90D-4CF7-80F6-15039A6E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92207BA5-430A-477C-9E3E-44686B54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8A25B118-27D5-468A-8E1C-2D63DEB9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465373B7-0DD9-44F6-8A5C-F2B6E263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44793857-30A1-4BBF-8203-ADB298D3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809265E5-F70E-4ABE-82D2-68EF91AC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47CE4FA8-6D63-4757-8FD8-B7EEBEAC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33CCF901-CE4D-4FF8-89B1-E776D0E3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843982B8-7C0A-48CF-BF0A-33259B94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4" name="grid-v">
            <a:extLst xmlns:a="http://schemas.openxmlformats.org/drawingml/2006/main">
              <a:ext uri="{FF2B5EF4-FFF2-40B4-BE49-F238E27FC236}">
                <a16:creationId xmlns:a16="http://schemas.microsoft.com/office/drawing/2014/main" id="{A0C1B0AC-E71B-4BB6-BE51-6126FB4D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5" name="grid-v">
            <a:extLst xmlns:a="http://schemas.openxmlformats.org/drawingml/2006/main">
              <a:ext uri="{FF2B5EF4-FFF2-40B4-BE49-F238E27FC236}">
                <a16:creationId xmlns:a16="http://schemas.microsoft.com/office/drawing/2014/main" id="{F0108BB6-B151-4E52-8F28-1EEEC8C4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6" name="grid-v">
            <a:extLst xmlns:a="http://schemas.openxmlformats.org/drawingml/2006/main">
              <a:ext uri="{FF2B5EF4-FFF2-40B4-BE49-F238E27FC236}">
                <a16:creationId xmlns:a16="http://schemas.microsoft.com/office/drawing/2014/main" id="{CA548FB8-FED6-4DA7-BD93-0939CBC0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7" name="grid-v">
            <a:extLst xmlns:a="http://schemas.openxmlformats.org/drawingml/2006/main">
              <a:ext uri="{FF2B5EF4-FFF2-40B4-BE49-F238E27FC236}">
                <a16:creationId xmlns:a16="http://schemas.microsoft.com/office/drawing/2014/main" id="{9B86918D-2DF6-4D73-9E3D-28895567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8" name="grid-v">
            <a:extLst xmlns:a="http://schemas.openxmlformats.org/drawingml/2006/main">
              <a:ext uri="{FF2B5EF4-FFF2-40B4-BE49-F238E27FC236}">
                <a16:creationId xmlns:a16="http://schemas.microsoft.com/office/drawing/2014/main" id="{657D2BF0-D5CA-41AA-8645-37A17F4C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9" name="grid-v">
            <a:extLst xmlns:a="http://schemas.openxmlformats.org/drawingml/2006/main">
              <a:ext uri="{FF2B5EF4-FFF2-40B4-BE49-F238E27FC236}">
                <a16:creationId xmlns:a16="http://schemas.microsoft.com/office/drawing/2014/main" id="{360EE9A1-E920-4438-92B9-14A6DF0E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5C5C896B-D44B-482D-BAFC-54D8CA81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E1362523-08B3-4C90-B512-2F31D991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0D549651-46D3-405E-9D7A-134A33C9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764344DE-B7D2-486E-93DA-8A257E2A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25F1FA4F-33F8-4816-B7E8-D01D3A4C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9FA10665-76D3-453C-9DE3-256612F9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9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6" name="grid-h">
            <a:extLst xmlns:a="http://schemas.openxmlformats.org/drawingml/2006/main">
              <a:ext uri="{FF2B5EF4-FFF2-40B4-BE49-F238E27FC236}">
                <a16:creationId xmlns:a16="http://schemas.microsoft.com/office/drawing/2014/main" id="{004FAC9E-2CF7-42B5-9FF7-CB069C63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28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7" name="grid-h">
            <a:extLst xmlns:a="http://schemas.openxmlformats.org/drawingml/2006/main">
              <a:ext uri="{FF2B5EF4-FFF2-40B4-BE49-F238E27FC236}">
                <a16:creationId xmlns:a16="http://schemas.microsoft.com/office/drawing/2014/main" id="{30AB279A-29B7-41B0-8062-3F0721A1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67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8" name="grid-h">
            <a:extLst xmlns:a="http://schemas.openxmlformats.org/drawingml/2006/main">
              <a:ext uri="{FF2B5EF4-FFF2-40B4-BE49-F238E27FC236}">
                <a16:creationId xmlns:a16="http://schemas.microsoft.com/office/drawing/2014/main" id="{CAC62A95-285F-4A30-8CCD-72A3C319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05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9" name="grid-h">
            <a:extLst xmlns:a="http://schemas.openxmlformats.org/drawingml/2006/main">
              <a:ext uri="{FF2B5EF4-FFF2-40B4-BE49-F238E27FC236}">
                <a16:creationId xmlns:a16="http://schemas.microsoft.com/office/drawing/2014/main" id="{D406D6E1-C31E-4029-8932-BBF5F616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0" name="grid-h">
            <a:extLst xmlns:a="http://schemas.openxmlformats.org/drawingml/2006/main">
              <a:ext uri="{FF2B5EF4-FFF2-40B4-BE49-F238E27FC236}">
                <a16:creationId xmlns:a16="http://schemas.microsoft.com/office/drawing/2014/main" id="{F43BBFCF-2CEE-4800-AB08-5203FEB7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1" name="grid-h">
            <a:extLst xmlns:a="http://schemas.openxmlformats.org/drawingml/2006/main">
              <a:ext uri="{FF2B5EF4-FFF2-40B4-BE49-F238E27FC236}">
                <a16:creationId xmlns:a16="http://schemas.microsoft.com/office/drawing/2014/main" id="{67B4483E-EE4F-4A26-9E36-E7A54AFC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19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2" name="grid-h">
            <a:extLst xmlns:a="http://schemas.openxmlformats.org/drawingml/2006/main">
              <a:ext uri="{FF2B5EF4-FFF2-40B4-BE49-F238E27FC236}">
                <a16:creationId xmlns:a16="http://schemas.microsoft.com/office/drawing/2014/main" id="{C6FFBF04-F577-46F6-BFD5-CDA87AE9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3" name="grid-h">
            <a:extLst xmlns:a="http://schemas.openxmlformats.org/drawingml/2006/main">
              <a:ext uri="{FF2B5EF4-FFF2-40B4-BE49-F238E27FC236}">
                <a16:creationId xmlns:a16="http://schemas.microsoft.com/office/drawing/2014/main" id="{72563780-A261-496F-8084-7829D18A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95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4" name="grid-h">
            <a:extLst xmlns:a="http://schemas.openxmlformats.org/drawingml/2006/main">
              <a:ext uri="{FF2B5EF4-FFF2-40B4-BE49-F238E27FC236}">
                <a16:creationId xmlns:a16="http://schemas.microsoft.com/office/drawing/2014/main" id="{AF713794-D71F-412A-9E4E-B9CEEB20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5" name="grid-h">
            <a:extLst xmlns:a="http://schemas.openxmlformats.org/drawingml/2006/main">
              <a:ext uri="{FF2B5EF4-FFF2-40B4-BE49-F238E27FC236}">
                <a16:creationId xmlns:a16="http://schemas.microsoft.com/office/drawing/2014/main" id="{1C12DAA5-75FC-4BEF-A2EB-E215CD5F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6" name="top-red-rule">
            <a:extLst xmlns:a="http://schemas.openxmlformats.org/drawingml/2006/main">
              <a:ext uri="{FF2B5EF4-FFF2-40B4-BE49-F238E27FC236}">
                <a16:creationId xmlns:a16="http://schemas.microsoft.com/office/drawing/2014/main" id="{D6626BBE-1A6C-486F-8152-C97630D4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47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BBFD11A9-B02E-43D4-8623-C1E95A91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461"/>
          </a:solidFill>
          <a:ln xmlns:a="http://schemas.openxmlformats.org/drawingml/2006/main" w="0">
            <a:solidFill>
              <a:srgbClr val="E2C461"/>
            </a:solidFill>
            <a:prstDash val="solid"/>
          </a:ln>
        </p:spPr>
      </p:sp>
      <p:sp>
        <p:nvSpPr>
          <p:cNvPr id="4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7B2E0DD-FB82-454C-96C1-8BF38891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4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7696552-40BF-4F2D-9F60-96C40A06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HARNESS</a:t>
            </a:r>
          </a:p>
        </p:txBody>
      </p:sp>
      <p:sp>
        <p:nvSpPr>
          <p:cNvPr id="50" name="claim-title">
            <a:extLst xmlns:a="http://schemas.openxmlformats.org/drawingml/2006/main">
              <a:ext uri="{FF2B5EF4-FFF2-40B4-BE49-F238E27FC236}">
                <a16:creationId xmlns:a16="http://schemas.microsoft.com/office/drawing/2014/main" id="{42182C51-4CBD-444B-8DB0-756170A1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810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6120E"/>
                </a:solidFill>
                <a:latin typeface="SimSun"/>
                <a:ea typeface="SimSun"/>
                <a:cs typeface="SimSun"/>
              </a:defRPr>
            </a:pPr>
            <a:r>
              <a:rPr sz="4050" b="0">
                <a:solidFill>
                  <a:srgbClr val="16120E"/>
                </a:solidFill>
                <a:latin typeface="SimSun"/>
                <a:ea typeface="SimSun"/>
                <a:cs typeface="SimSun"/>
              </a:rPr>
              <a:t>Harness 是系统的编排中枢。</a:t>
            </a:r>
          </a:p>
        </p:txBody>
      </p:sp>
      <p:sp>
        <p:nvSpPr>
          <p:cNvPr id="51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6107CB01-16C1-4CFF-9737-71C5F716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876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它负责把任务拆解成多个可执行 Skill，控制顺序、上下文、质量标准和交付格式。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D11ED9-04A7-4096-B601-648FA275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5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1D07D27-3BCE-47C2-A056-2E850DC8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2A4"/>
          </a:solidFill>
          <a:ln xmlns:a="http://schemas.openxmlformats.org/drawingml/2006/main" w="0">
            <a:solidFill>
              <a:srgbClr val="BDB2A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3CEB06-8F4F-411F-A871-ACB5587F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OperAI Harness / Competition Pitch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699A27C-A948-4B62-97B0-D95C53C6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943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966205-CC27-4098-AAEA-DABBA7B8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9330C85-9BFB-4223-B975-53CCBEB2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任务理解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88FC16C-A032-47C4-8FE2-343A9838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160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识别目标、材料、约束和缺口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53C5D1B-85BF-433B-A938-5B76B7E4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576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ABEDFF1-2E0B-485D-9737-D2E64875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943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6964DD2-DDF8-4D1C-9B43-3E9608CB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433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A15172D-5F5A-494F-BF45-E1849434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671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Skill 匹配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E79104B-B9E3-4ECF-BF1A-3A10DBE1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24350"/>
            <a:ext cx="160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从 52 个运营 Skill 中选能力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2966623-28B0-4EF1-BC28-A1A9B68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576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297C01E-FBA2-45A5-924E-E8311C5D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33750"/>
            <a:ext cx="1943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F0B"/>
          </a:solidFill>
          <a:ln xmlns:a="http://schemas.openxmlformats.org/drawingml/2006/main" w="9525">
            <a:solidFill>
              <a:srgbClr val="120F0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B0D7A2A-2388-45F8-8151-DA36227B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433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9B65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B89B65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967166F-E31F-47BE-9241-A36634B6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9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9EF"/>
                </a:solidFill>
                <a:latin typeface="Microsoft YaHei"/>
                <a:ea typeface="Microsoft YaHei"/>
                <a:cs typeface="Microsoft YaHei"/>
              </a:rPr>
              <a:t>运行编排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A55D313-5416-4380-92F3-CC1BA71B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24350"/>
            <a:ext cx="160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CD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7CDBE"/>
                </a:solidFill>
                <a:latin typeface="Microsoft YaHei"/>
                <a:ea typeface="Microsoft YaHei"/>
                <a:cs typeface="Microsoft YaHei"/>
              </a:rPr>
              <a:t>安排顺序、依赖和上下文传递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5B9E239-8372-4092-83CA-C6A22AB1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576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5B40C7C-47A7-4DC4-8DC3-D34F7435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1943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DA2C8E3-091C-4BA8-B08A-E1B6DFE8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433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35FB887-B9F4-4EAB-B44D-629A476D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671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质量检验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F67A2F1-4ADD-47BC-B2CF-51CBF4CA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24350"/>
            <a:ext cx="160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复核证据、风险、平台适配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BA115D4-5FD3-4AC2-B17D-5DDFC956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576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269C54E-A58D-4473-A273-EF48F7E8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0"/>
            <a:ext cx="1943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5748C26-F5F6-4A92-9858-FCB89A1A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433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CC07EB5-71E4-4CFB-88F1-584C0D10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671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交付导出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0F1AEBB-D87D-471F-8603-7F6DE955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24350"/>
            <a:ext cx="160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形成方案、报告、内容资产包</a:t>
            </a:r>
          </a:p>
        </p:txBody>
      </p:sp>
    </p:spTree>
    <p:extLst>
      <p:ext uri="{BB962C8B-B14F-4D97-AF65-F5344CB8AC3E}">
        <p14:creationId xmlns:p14="http://schemas.microsoft.com/office/powerpoint/2010/main" val="10789405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-bg">
            <a:extLst xmlns:a="http://schemas.openxmlformats.org/drawingml/2006/main">
              <a:ext uri="{FF2B5EF4-FFF2-40B4-BE49-F238E27FC236}">
                <a16:creationId xmlns:a16="http://schemas.microsoft.com/office/drawing/2014/main" id="{6AC86BD7-2E7A-4C5B-8850-CD991D38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0EBBF273-093E-4A04-8C50-FB007A2D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CF50A625-46C3-466D-95AA-47B9427B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488416A2-ECEA-47C8-A652-26F620EA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746F1B01-6753-405B-A6BC-3414FB21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9003D760-9F25-4882-9BFB-81094516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8A75E2DD-7966-4735-9D44-39D858A6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C1370824-3145-4767-AB15-7DD9A7BD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2197FDB2-D1E0-4D94-BD01-B7E32213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AEE44F9E-1A2F-4FE6-BBE3-F70911D8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1E914757-E3E5-4755-901E-F97379CA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81728B92-1A7D-4455-897F-F1F17720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6EC061CE-4931-4551-AEB7-4E21FD81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17C0ED05-5632-406E-BC57-1C5AC6BB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D10380CD-81E8-4F93-A228-35900A91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0D671611-1C40-4B76-B239-9DA4BAC7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231F3910-0711-4954-BE72-60591515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AEE66082-E2EF-450E-BA51-CACEBE08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B4B15B5A-398D-4CA9-8633-AD717CB9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34410C80-3FA7-439E-8236-048A3814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2B5E0275-816F-4022-97D2-AA36D2D6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6686F568-3217-4BA3-92F7-26746229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A5EB95F3-CBDE-453A-A87C-A85470A0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4" name="grid-v">
            <a:extLst xmlns:a="http://schemas.openxmlformats.org/drawingml/2006/main">
              <a:ext uri="{FF2B5EF4-FFF2-40B4-BE49-F238E27FC236}">
                <a16:creationId xmlns:a16="http://schemas.microsoft.com/office/drawing/2014/main" id="{6A0643BE-93A3-435F-820B-398101C5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5" name="grid-v">
            <a:extLst xmlns:a="http://schemas.openxmlformats.org/drawingml/2006/main">
              <a:ext uri="{FF2B5EF4-FFF2-40B4-BE49-F238E27FC236}">
                <a16:creationId xmlns:a16="http://schemas.microsoft.com/office/drawing/2014/main" id="{766F0CD5-5D47-40DA-AE7D-9ED02015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6" name="grid-v">
            <a:extLst xmlns:a="http://schemas.openxmlformats.org/drawingml/2006/main">
              <a:ext uri="{FF2B5EF4-FFF2-40B4-BE49-F238E27FC236}">
                <a16:creationId xmlns:a16="http://schemas.microsoft.com/office/drawing/2014/main" id="{094E53DF-69A4-426C-BD0D-8F468EB3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7" name="grid-v">
            <a:extLst xmlns:a="http://schemas.openxmlformats.org/drawingml/2006/main">
              <a:ext uri="{FF2B5EF4-FFF2-40B4-BE49-F238E27FC236}">
                <a16:creationId xmlns:a16="http://schemas.microsoft.com/office/drawing/2014/main" id="{F33A5960-9327-4DA3-88E0-AEE39D99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8" name="grid-v">
            <a:extLst xmlns:a="http://schemas.openxmlformats.org/drawingml/2006/main">
              <a:ext uri="{FF2B5EF4-FFF2-40B4-BE49-F238E27FC236}">
                <a16:creationId xmlns:a16="http://schemas.microsoft.com/office/drawing/2014/main" id="{08BCE722-7EE0-4CB6-B39A-64C95311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9" name="grid-v">
            <a:extLst xmlns:a="http://schemas.openxmlformats.org/drawingml/2006/main">
              <a:ext uri="{FF2B5EF4-FFF2-40B4-BE49-F238E27FC236}">
                <a16:creationId xmlns:a16="http://schemas.microsoft.com/office/drawing/2014/main" id="{1364A2C1-0262-4115-A55B-095A79AF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997EFB41-D836-4CEC-925B-B928DE07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0CE4E3C1-A3BA-407C-8F46-15B47D68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5DE2B6BF-C501-4D24-826E-4B96F419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B09C9B28-4D54-4C3D-B7E8-E3BD4120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48E4367B-366E-49B6-8F2E-6A86F32B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C1FA049A-F897-4923-8C08-34FADCBF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9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6" name="grid-h">
            <a:extLst xmlns:a="http://schemas.openxmlformats.org/drawingml/2006/main">
              <a:ext uri="{FF2B5EF4-FFF2-40B4-BE49-F238E27FC236}">
                <a16:creationId xmlns:a16="http://schemas.microsoft.com/office/drawing/2014/main" id="{108243BD-7A4A-4A6E-8000-810169F0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28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7" name="grid-h">
            <a:extLst xmlns:a="http://schemas.openxmlformats.org/drawingml/2006/main">
              <a:ext uri="{FF2B5EF4-FFF2-40B4-BE49-F238E27FC236}">
                <a16:creationId xmlns:a16="http://schemas.microsoft.com/office/drawing/2014/main" id="{06D9EF62-174F-430B-9412-8F7E8E13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67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8" name="grid-h">
            <a:extLst xmlns:a="http://schemas.openxmlformats.org/drawingml/2006/main">
              <a:ext uri="{FF2B5EF4-FFF2-40B4-BE49-F238E27FC236}">
                <a16:creationId xmlns:a16="http://schemas.microsoft.com/office/drawing/2014/main" id="{5BFFC688-AC42-4831-ADE2-ADFB3D83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05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9" name="grid-h">
            <a:extLst xmlns:a="http://schemas.openxmlformats.org/drawingml/2006/main">
              <a:ext uri="{FF2B5EF4-FFF2-40B4-BE49-F238E27FC236}">
                <a16:creationId xmlns:a16="http://schemas.microsoft.com/office/drawing/2014/main" id="{FFCC7151-56F2-4328-B48E-150E2FA9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0" name="grid-h">
            <a:extLst xmlns:a="http://schemas.openxmlformats.org/drawingml/2006/main">
              <a:ext uri="{FF2B5EF4-FFF2-40B4-BE49-F238E27FC236}">
                <a16:creationId xmlns:a16="http://schemas.microsoft.com/office/drawing/2014/main" id="{4902C566-0146-4DDD-BCB3-4D49D65F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1" name="grid-h">
            <a:extLst xmlns:a="http://schemas.openxmlformats.org/drawingml/2006/main">
              <a:ext uri="{FF2B5EF4-FFF2-40B4-BE49-F238E27FC236}">
                <a16:creationId xmlns:a16="http://schemas.microsoft.com/office/drawing/2014/main" id="{085B5AD6-A8EC-4722-B317-2CF47AFB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19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2" name="grid-h">
            <a:extLst xmlns:a="http://schemas.openxmlformats.org/drawingml/2006/main">
              <a:ext uri="{FF2B5EF4-FFF2-40B4-BE49-F238E27FC236}">
                <a16:creationId xmlns:a16="http://schemas.microsoft.com/office/drawing/2014/main" id="{7020B1BB-466E-405F-95CD-E068558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3" name="grid-h">
            <a:extLst xmlns:a="http://schemas.openxmlformats.org/drawingml/2006/main">
              <a:ext uri="{FF2B5EF4-FFF2-40B4-BE49-F238E27FC236}">
                <a16:creationId xmlns:a16="http://schemas.microsoft.com/office/drawing/2014/main" id="{327CBCD4-E173-48B9-8D88-EB089FB1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95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4" name="grid-h">
            <a:extLst xmlns:a="http://schemas.openxmlformats.org/drawingml/2006/main">
              <a:ext uri="{FF2B5EF4-FFF2-40B4-BE49-F238E27FC236}">
                <a16:creationId xmlns:a16="http://schemas.microsoft.com/office/drawing/2014/main" id="{AE9E2497-EF25-4175-A81E-43C17331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5" name="grid-h">
            <a:extLst xmlns:a="http://schemas.openxmlformats.org/drawingml/2006/main">
              <a:ext uri="{FF2B5EF4-FFF2-40B4-BE49-F238E27FC236}">
                <a16:creationId xmlns:a16="http://schemas.microsoft.com/office/drawing/2014/main" id="{63FAC07C-F444-4759-9154-8721BEC6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6" name="top-red-rule">
            <a:extLst xmlns:a="http://schemas.openxmlformats.org/drawingml/2006/main">
              <a:ext uri="{FF2B5EF4-FFF2-40B4-BE49-F238E27FC236}">
                <a16:creationId xmlns:a16="http://schemas.microsoft.com/office/drawing/2014/main" id="{1A76AEFE-5359-4B5C-9426-77D71B5A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47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11F36AAE-A22F-4A51-8E5A-703CA753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461"/>
          </a:solidFill>
          <a:ln xmlns:a="http://schemas.openxmlformats.org/drawingml/2006/main" w="0">
            <a:solidFill>
              <a:srgbClr val="E2C461"/>
            </a:solidFill>
            <a:prstDash val="solid"/>
          </a:ln>
        </p:spPr>
      </p:sp>
      <p:sp>
        <p:nvSpPr>
          <p:cNvPr id="4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33B0ED8-C996-4B38-947C-E39E03DC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4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9755F80-8076-4D05-A9B4-ACD79400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SYSTEM MAP</a:t>
            </a:r>
          </a:p>
        </p:txBody>
      </p:sp>
      <p:sp>
        <p:nvSpPr>
          <p:cNvPr id="50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EAFAB56-1C0F-4D7F-A6E8-16B9177B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6120E"/>
                </a:solidFill>
                <a:latin typeface="SimSun"/>
                <a:ea typeface="SimSun"/>
                <a:cs typeface="SimSun"/>
              </a:defRPr>
            </a:pPr>
            <a:r>
              <a:rPr sz="3900" b="0">
                <a:solidFill>
                  <a:srgbClr val="16120E"/>
                </a:solidFill>
                <a:latin typeface="SimSun"/>
                <a:ea typeface="SimSun"/>
                <a:cs typeface="SimSun"/>
              </a:rPr>
              <a:t>8 个职能入口、10 个智能体和 52 个 Skill，构成一套运营知识网络。</a:t>
            </a:r>
          </a:p>
        </p:txBody>
      </p:sp>
      <p:sp>
        <p:nvSpPr>
          <p:cNvPr id="51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BC536D25-0CFC-422F-91F6-1E9966E4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这不是把十个聊天机器人摆在一起，而是把公司运营知识拆成可组合、可新增、可复核的能力单元。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F87F36B-0586-4E69-9A86-5FF3144F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5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5B8B72E-3335-489D-B335-84540BAF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2A4"/>
          </a:solidFill>
          <a:ln xmlns:a="http://schemas.openxmlformats.org/drawingml/2006/main" w="0">
            <a:solidFill>
              <a:srgbClr val="BDB2A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DF482A-C602-4EB3-A6AA-BF3B72C8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OperAI Harness / Competition Pitch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E2817C-6234-4EF7-9068-586F49DC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2A4"/>
          </a:solidFill>
          <a:ln xmlns:a="http://schemas.openxmlformats.org/drawingml/2006/main" w="0">
            <a:solidFill>
              <a:srgbClr val="BDB2A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858F95B-8963-4187-B0D8-181FDE00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6120E"/>
                </a:solidFill>
                <a:latin typeface="SimSun"/>
                <a:ea typeface="SimSun"/>
                <a:cs typeface="SimSun"/>
              </a:defRPr>
            </a:pPr>
            <a:r>
              <a:rPr sz="3150" b="0">
                <a:solidFill>
                  <a:srgbClr val="16120E"/>
                </a:solidFill>
                <a:latin typeface="SimSun"/>
                <a:ea typeface="SimSun"/>
                <a:cs typeface="SimSun"/>
              </a:rPr>
              <a:t>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DD5DAA0-FFE0-4CF8-B335-2045C4B6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职能入口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212BE49-A698-461D-9173-A5050AEF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按岗位组织用户路径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646C664-2824-4568-A871-66A2CC8A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5755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2A4"/>
          </a:solidFill>
          <a:ln xmlns:a="http://schemas.openxmlformats.org/drawingml/2006/main" w="0">
            <a:solidFill>
              <a:srgbClr val="BDB2A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592AFAE-2D4E-49B9-8BF2-776D1BAE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290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6120E"/>
                </a:solidFill>
                <a:latin typeface="SimSun"/>
                <a:ea typeface="SimSun"/>
                <a:cs typeface="SimSun"/>
              </a:defRPr>
            </a:pPr>
            <a:r>
              <a:rPr sz="3150" b="0">
                <a:solidFill>
                  <a:srgbClr val="16120E"/>
                </a:solidFill>
                <a:latin typeface="SimSun"/>
                <a:ea typeface="SimSun"/>
                <a:cs typeface="SimSun"/>
              </a:rPr>
              <a:t>10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E860925-0092-45B7-97E7-9D800C69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052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运营智能体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0CFBE2-F5A0-4A5B-B1AF-239CB79E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910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执行具体领域判断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0447840-CC2D-4090-AF30-AB15707D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5755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2A4"/>
          </a:solidFill>
          <a:ln xmlns:a="http://schemas.openxmlformats.org/drawingml/2006/main" w="0">
            <a:solidFill>
              <a:srgbClr val="BDB2A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05785BC-D390-4527-AACC-FF8987DC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6120E"/>
                </a:solidFill>
                <a:latin typeface="SimSun"/>
                <a:ea typeface="SimSun"/>
                <a:cs typeface="SimSun"/>
              </a:defRPr>
            </a:pPr>
            <a:r>
              <a:rPr sz="3150" b="0">
                <a:solidFill>
                  <a:srgbClr val="16120E"/>
                </a:solidFill>
                <a:latin typeface="SimSun"/>
                <a:ea typeface="SimSun"/>
                <a:cs typeface="SimSun"/>
              </a:rPr>
              <a:t>52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474DC7F-B1E6-4E98-9086-8B407515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Skill Registry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B0E7799-D305-4A7D-8A4E-EDB5ED8E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910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沉淀运营方法库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EB97A28-8C64-4BD3-9032-0C44E377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575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2A4"/>
          </a:solidFill>
          <a:ln xmlns:a="http://schemas.openxmlformats.org/drawingml/2006/main" w="0">
            <a:solidFill>
              <a:srgbClr val="BDB2A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7C0B63D-77E0-405F-B053-B076AA2E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290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6120E"/>
                </a:solidFill>
                <a:latin typeface="SimSun"/>
                <a:ea typeface="SimSun"/>
                <a:cs typeface="SimSun"/>
              </a:defRPr>
            </a:pPr>
            <a:r>
              <a:rPr sz="3150" b="0">
                <a:solidFill>
                  <a:srgbClr val="16120E"/>
                </a:solidFill>
                <a:latin typeface="SimSun"/>
                <a:ea typeface="SimSun"/>
                <a:cs typeface="SimSun"/>
              </a:rPr>
              <a:t>+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D2731A-4469-4CCD-9866-36DB2D77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052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Skill Studio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062C740-175E-4850-9B2A-D8F37721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910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客户可新增专属能力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FBD2D4D-C85F-4592-B50B-A548C70E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34000"/>
            <a:ext cx="923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能力不是一次性 Prompt，而是能进入运行档案、质量检验和交付导出的系统资产。</a:t>
            </a:r>
          </a:p>
        </p:txBody>
      </p:sp>
    </p:spTree>
    <p:extLst>
      <p:ext uri="{BB962C8B-B14F-4D97-AF65-F5344CB8AC3E}">
        <p14:creationId xmlns:p14="http://schemas.microsoft.com/office/powerpoint/2010/main" val="17547674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-bg">
            <a:extLst xmlns:a="http://schemas.openxmlformats.org/drawingml/2006/main">
              <a:ext uri="{FF2B5EF4-FFF2-40B4-BE49-F238E27FC236}">
                <a16:creationId xmlns:a16="http://schemas.microsoft.com/office/drawing/2014/main" id="{7E733C3A-A2BB-47E2-B8B6-6BC53219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17EF1676-D52B-4458-B6A5-40D7E17F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41636E63-4E16-4B64-AD61-7DBC3A16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B5A56B20-5C66-44F0-A563-EADA5181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09EB3D9F-BCE5-4324-9A2F-C11B0FBF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DCDAA9F0-C465-43AF-94C5-4F92A368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F9717333-327F-4696-A2AB-58E0D271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427E6E2A-3A5F-4A72-A288-7FA761AA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44C73698-7E3B-49BD-BB2E-A29E5AA1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BFB4BC9E-E4AB-4B00-AEDD-A661F121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40DF9FD9-7779-4F7F-B976-5D310A8B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570A372B-09C3-42D4-9785-E4808DD9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4C24D474-6CCB-40F5-88BE-BE36D792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511D325E-6AB9-4BED-9816-A75A0074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221F81F9-4500-475B-9D33-40B57E7F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6FB2401F-928B-4695-84FB-A62938D4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52328AF8-B846-4458-A6BB-ADD81E43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2A6CEDB7-0526-4464-BD5B-163D9B81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5E160512-6598-4E2E-891B-B484EF80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A0A6915D-2B7D-4DFD-B2BB-10D3303C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30CE0C59-DDCF-48E9-A790-0E0529AB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6D08C730-BB0E-4D24-88B3-8EF9052A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3B70E505-7CF0-440C-8AB3-A31F9E4E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4" name="grid-v">
            <a:extLst xmlns:a="http://schemas.openxmlformats.org/drawingml/2006/main">
              <a:ext uri="{FF2B5EF4-FFF2-40B4-BE49-F238E27FC236}">
                <a16:creationId xmlns:a16="http://schemas.microsoft.com/office/drawing/2014/main" id="{FDB90056-F014-420B-921D-286F7971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5" name="grid-v">
            <a:extLst xmlns:a="http://schemas.openxmlformats.org/drawingml/2006/main">
              <a:ext uri="{FF2B5EF4-FFF2-40B4-BE49-F238E27FC236}">
                <a16:creationId xmlns:a16="http://schemas.microsoft.com/office/drawing/2014/main" id="{5570DF01-1C7E-4F0C-97C6-9E7B68F9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6" name="grid-v">
            <a:extLst xmlns:a="http://schemas.openxmlformats.org/drawingml/2006/main">
              <a:ext uri="{FF2B5EF4-FFF2-40B4-BE49-F238E27FC236}">
                <a16:creationId xmlns:a16="http://schemas.microsoft.com/office/drawing/2014/main" id="{61F41152-A76B-452A-858C-63902CDB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7" name="grid-v">
            <a:extLst xmlns:a="http://schemas.openxmlformats.org/drawingml/2006/main">
              <a:ext uri="{FF2B5EF4-FFF2-40B4-BE49-F238E27FC236}">
                <a16:creationId xmlns:a16="http://schemas.microsoft.com/office/drawing/2014/main" id="{2468ACB1-F4CC-45AB-ABBB-251E4C5A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8" name="grid-v">
            <a:extLst xmlns:a="http://schemas.openxmlformats.org/drawingml/2006/main">
              <a:ext uri="{FF2B5EF4-FFF2-40B4-BE49-F238E27FC236}">
                <a16:creationId xmlns:a16="http://schemas.microsoft.com/office/drawing/2014/main" id="{DF454EC8-753B-41E3-BF56-F62732B8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9" name="grid-v">
            <a:extLst xmlns:a="http://schemas.openxmlformats.org/drawingml/2006/main">
              <a:ext uri="{FF2B5EF4-FFF2-40B4-BE49-F238E27FC236}">
                <a16:creationId xmlns:a16="http://schemas.microsoft.com/office/drawing/2014/main" id="{414608D8-D05E-4B4E-B19C-280B83D5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CA827252-ECEA-450E-87DC-0AF632DD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AC05159D-9A20-4ADE-A910-1F1E2327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9EE21429-14A6-4DB6-B8AE-B8957B38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0EAEA944-2436-4F13-8A88-37A5A319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305ED828-A762-4F73-8B49-5D8C0CE6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694C099C-E600-4585-A003-9E9B8867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9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6" name="grid-h">
            <a:extLst xmlns:a="http://schemas.openxmlformats.org/drawingml/2006/main">
              <a:ext uri="{FF2B5EF4-FFF2-40B4-BE49-F238E27FC236}">
                <a16:creationId xmlns:a16="http://schemas.microsoft.com/office/drawing/2014/main" id="{25008402-6EF8-41B6-8E77-E94D6CE3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28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7" name="grid-h">
            <a:extLst xmlns:a="http://schemas.openxmlformats.org/drawingml/2006/main">
              <a:ext uri="{FF2B5EF4-FFF2-40B4-BE49-F238E27FC236}">
                <a16:creationId xmlns:a16="http://schemas.microsoft.com/office/drawing/2014/main" id="{B4658FCD-D0A9-4978-9741-6AB2AA44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67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8" name="grid-h">
            <a:extLst xmlns:a="http://schemas.openxmlformats.org/drawingml/2006/main">
              <a:ext uri="{FF2B5EF4-FFF2-40B4-BE49-F238E27FC236}">
                <a16:creationId xmlns:a16="http://schemas.microsoft.com/office/drawing/2014/main" id="{4F95C03E-33FB-49F0-A9F9-81074126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05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9" name="grid-h">
            <a:extLst xmlns:a="http://schemas.openxmlformats.org/drawingml/2006/main">
              <a:ext uri="{FF2B5EF4-FFF2-40B4-BE49-F238E27FC236}">
                <a16:creationId xmlns:a16="http://schemas.microsoft.com/office/drawing/2014/main" id="{561A2F8B-BE8E-4068-9341-305B7319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0" name="grid-h">
            <a:extLst xmlns:a="http://schemas.openxmlformats.org/drawingml/2006/main">
              <a:ext uri="{FF2B5EF4-FFF2-40B4-BE49-F238E27FC236}">
                <a16:creationId xmlns:a16="http://schemas.microsoft.com/office/drawing/2014/main" id="{B351A893-7EC2-4810-AF9F-1F1D5C03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1" name="grid-h">
            <a:extLst xmlns:a="http://schemas.openxmlformats.org/drawingml/2006/main">
              <a:ext uri="{FF2B5EF4-FFF2-40B4-BE49-F238E27FC236}">
                <a16:creationId xmlns:a16="http://schemas.microsoft.com/office/drawing/2014/main" id="{53472197-8FAA-4027-84C0-DA93C06B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19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2" name="grid-h">
            <a:extLst xmlns:a="http://schemas.openxmlformats.org/drawingml/2006/main">
              <a:ext uri="{FF2B5EF4-FFF2-40B4-BE49-F238E27FC236}">
                <a16:creationId xmlns:a16="http://schemas.microsoft.com/office/drawing/2014/main" id="{F564476A-5EC2-47DF-99CD-99573E1C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3" name="grid-h">
            <a:extLst xmlns:a="http://schemas.openxmlformats.org/drawingml/2006/main">
              <a:ext uri="{FF2B5EF4-FFF2-40B4-BE49-F238E27FC236}">
                <a16:creationId xmlns:a16="http://schemas.microsoft.com/office/drawing/2014/main" id="{A57BADE6-3DD5-412B-A202-FAB763FC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95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4" name="grid-h">
            <a:extLst xmlns:a="http://schemas.openxmlformats.org/drawingml/2006/main">
              <a:ext uri="{FF2B5EF4-FFF2-40B4-BE49-F238E27FC236}">
                <a16:creationId xmlns:a16="http://schemas.microsoft.com/office/drawing/2014/main" id="{B625C75B-0C7A-4F1D-AC15-F15E0EC4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5" name="grid-h">
            <a:extLst xmlns:a="http://schemas.openxmlformats.org/drawingml/2006/main">
              <a:ext uri="{FF2B5EF4-FFF2-40B4-BE49-F238E27FC236}">
                <a16:creationId xmlns:a16="http://schemas.microsoft.com/office/drawing/2014/main" id="{BA1039D4-005B-4035-9A76-4D02289D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6" name="top-red-rule">
            <a:extLst xmlns:a="http://schemas.openxmlformats.org/drawingml/2006/main">
              <a:ext uri="{FF2B5EF4-FFF2-40B4-BE49-F238E27FC236}">
                <a16:creationId xmlns:a16="http://schemas.microsoft.com/office/drawing/2014/main" id="{E77EB46B-9943-4C3B-85B9-07533011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47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B5AD0548-5193-4895-BA7E-6327231B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461"/>
          </a:solidFill>
          <a:ln xmlns:a="http://schemas.openxmlformats.org/drawingml/2006/main" w="0">
            <a:solidFill>
              <a:srgbClr val="E2C461"/>
            </a:solidFill>
            <a:prstDash val="solid"/>
          </a:ln>
        </p:spPr>
      </p:sp>
      <p:sp>
        <p:nvSpPr>
          <p:cNvPr id="4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0376AE8-BCB6-4B9B-AE42-AF2D223F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4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9D03C56-8FA4-48CE-903A-6494B09E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ROLE OUTPUTS</a:t>
            </a:r>
          </a:p>
        </p:txBody>
      </p:sp>
      <p:sp>
        <p:nvSpPr>
          <p:cNvPr id="50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146FBCA-DAFB-430D-A89D-11221A31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6120E"/>
                </a:solidFill>
                <a:latin typeface="SimSun"/>
                <a:ea typeface="SimSun"/>
                <a:cs typeface="SimSun"/>
              </a:defRPr>
            </a:pPr>
            <a:r>
              <a:rPr sz="3900" b="0">
                <a:solidFill>
                  <a:srgbClr val="16120E"/>
                </a:solidFill>
                <a:latin typeface="SimSun"/>
                <a:ea typeface="SimSun"/>
                <a:cs typeface="SimSun"/>
              </a:rPr>
              <a:t>不同运营职能，应该得到不同类型的交付物。</a:t>
            </a:r>
          </a:p>
        </p:txBody>
      </p:sp>
      <p:sp>
        <p:nvSpPr>
          <p:cNvPr id="51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1D1883E9-6E52-4F83-AD35-3528F228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内容和社群会生成文案资产；用户、活动、渠道、增长、产品和市场，更应该生成方案、报告、实验和策略。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FA10A8-75B2-4EC4-902D-CE07013B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5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B059136-4BA5-446F-A915-49EF8AE0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2A4"/>
          </a:solidFill>
          <a:ln xmlns:a="http://schemas.openxmlformats.org/drawingml/2006/main" w="0">
            <a:solidFill>
              <a:srgbClr val="BDB2A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031B74E-097A-4320-AEA8-CBC30B9B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OperAI Harness / Competition Pitch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0A17A45-4963-4480-8FF5-3C2A627C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8CFC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A45B0A-9409-47EF-A132-3FD89858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8AC27BB-A275-4F3B-99E8-7EA1C08A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D8913AB-EB00-4BF1-AF4B-45D70A2C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861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内容运营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CBF0CE8-99BD-4B4E-B28A-6F86F10E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05175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多平台内容资产包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38F61DB-6EC2-42C9-85A8-972A39E6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4325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8CFC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24CDAFC-3C14-429D-8845-7F66E377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432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52BAF26-609D-4FFC-8607-0BF40277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D630FEC-1E0D-4CFE-AEF1-AA15B98A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861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用户运营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4CC3223-4E7E-4BA3-8621-DD8948CF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05175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分层与生命周期方案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BF3322C-007D-4CA6-932C-BEBE8CD1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8CFC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E70E4BF-CCF2-4970-AD0F-A8A3F118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2D94CAB-C5E6-49F0-BB68-28B89CED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9F88438-4875-4BFD-87D2-51FE94ED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766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活动运营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3163156-13AF-48DA-88E2-5B5C9813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95725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活动策划与执行方案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F1D3BBF-DDD1-44C0-AFA4-DC0D350B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338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8CFC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CEBC8B4-2792-4978-8547-DF9E6C39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3380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967AC6E-ABD5-496E-8FC7-4D8CA2FC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3B4AF4D-561E-4BDF-8167-C2277132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766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渠道运营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6B0EDF6-4AA2-4E83-82B2-F11917A1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95725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分发与归因方案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9550E05-CABB-49A5-A04E-805B9A69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8CFC1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A02E2D9-7E62-4B76-823E-C48243DD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97702B0-879D-4B5E-A39C-471A5B25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E721EF4-6396-4B15-B8F9-E4F0B861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672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增长投放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9B1049C-3069-4F0D-ABF1-18B36D89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86275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增长实验与转化优化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354693C-7092-43A5-95CB-1A91DFED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2435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8CFC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C4E2113-1757-4033-9459-DB11D36D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243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8762620-25B3-468C-84A5-A9469C0F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958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A0756E9-3D39-4CED-82E4-BC5D07FD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672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产品运营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C9D8B7B-F1A1-4AEF-8155-4132CD33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86275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产品洞察与迭代报告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B8CB49B-3EDD-48FE-BC6A-0FD2B032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8CFC1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463827E-0CAC-42DE-929B-97A82427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675BDAB-6133-49F0-9F05-93579072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8337988-3016-45FC-BE8B-8DFF1F88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577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社群运营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070094F-E995-4FC5-9C7C-E94827AF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76825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社群行动手册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3320103-ADD8-404C-9655-1E3E903A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149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8CFC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D589E65-7C50-4E46-BD39-3D814A03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1490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E922160-9DFD-4DA5-BE60-E67C5089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863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C2668B3-A75B-4F3C-98FC-AA92E6F7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0577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市场策略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95E67BE-1B23-4160-9900-62C8A584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76825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定位与渠道组合报告</a:t>
            </a:r>
          </a:p>
        </p:txBody>
      </p:sp>
    </p:spTree>
    <p:extLst>
      <p:ext uri="{BB962C8B-B14F-4D97-AF65-F5344CB8AC3E}">
        <p14:creationId xmlns:p14="http://schemas.microsoft.com/office/powerpoint/2010/main" val="19488158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-bg">
            <a:extLst xmlns:a="http://schemas.openxmlformats.org/drawingml/2006/main">
              <a:ext uri="{FF2B5EF4-FFF2-40B4-BE49-F238E27FC236}">
                <a16:creationId xmlns:a16="http://schemas.microsoft.com/office/drawing/2014/main" id="{66A6A0CB-843C-4FFB-B2BC-7B8E3C8E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3BE967F6-0918-4CBB-A152-1A983CA4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6BB6762B-58F7-46B8-A15F-FBACCAA1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72E994DF-47A9-4BB7-A2E0-F818DE2D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22EFF8B4-AC2E-48D1-A4F6-2B3E6854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D52CA5B6-BAAE-47CA-A670-DDA3D060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7DF5577B-07D4-4FB0-8119-C9122B69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DE2BBC4C-D9D1-46EC-B066-1AC1C175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E7A603DC-B0C8-4CA3-914A-418B13EA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587966BE-831C-4F8D-A582-4E47A099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7617D118-4615-4057-874C-BA2F1546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8A52D103-F29C-408C-9263-95F06AA8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A5E35A3C-75A7-44E8-8B35-62DF5380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878A81D9-E5B2-4B45-A068-74A23E2C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81F1D480-40B2-44B3-AA60-EF44E5DD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133459B6-54B4-49DA-ACA4-15E0EAD3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E87D7B1F-3C55-4E66-AC96-1A7F92ED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D9FEA347-5663-4471-AA2D-420D0FB9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562CB1C9-3907-4D4E-81BE-94EBBEB3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526E5E98-075B-4E26-A933-2E7B3D6E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A1F1B30A-2063-4EBA-91AE-F1DFED43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D6019B58-C750-4CA6-8251-570B24F7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99AA3FD3-217C-4F6C-81C8-ADC215E7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4" name="grid-v">
            <a:extLst xmlns:a="http://schemas.openxmlformats.org/drawingml/2006/main">
              <a:ext uri="{FF2B5EF4-FFF2-40B4-BE49-F238E27FC236}">
                <a16:creationId xmlns:a16="http://schemas.microsoft.com/office/drawing/2014/main" id="{1017E767-56BF-4C9F-97C5-36E18A41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5" name="grid-v">
            <a:extLst xmlns:a="http://schemas.openxmlformats.org/drawingml/2006/main">
              <a:ext uri="{FF2B5EF4-FFF2-40B4-BE49-F238E27FC236}">
                <a16:creationId xmlns:a16="http://schemas.microsoft.com/office/drawing/2014/main" id="{8DB4EBAE-1220-466F-BE8E-08B865DF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6" name="grid-v">
            <a:extLst xmlns:a="http://schemas.openxmlformats.org/drawingml/2006/main">
              <a:ext uri="{FF2B5EF4-FFF2-40B4-BE49-F238E27FC236}">
                <a16:creationId xmlns:a16="http://schemas.microsoft.com/office/drawing/2014/main" id="{E8EB528E-CABA-4759-A798-5CFAA35E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7" name="grid-v">
            <a:extLst xmlns:a="http://schemas.openxmlformats.org/drawingml/2006/main">
              <a:ext uri="{FF2B5EF4-FFF2-40B4-BE49-F238E27FC236}">
                <a16:creationId xmlns:a16="http://schemas.microsoft.com/office/drawing/2014/main" id="{7243E2B5-7431-4DC2-BB90-636025CE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8" name="grid-v">
            <a:extLst xmlns:a="http://schemas.openxmlformats.org/drawingml/2006/main">
              <a:ext uri="{FF2B5EF4-FFF2-40B4-BE49-F238E27FC236}">
                <a16:creationId xmlns:a16="http://schemas.microsoft.com/office/drawing/2014/main" id="{A273DD34-DA85-442F-8647-5D86F21A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9" name="grid-v">
            <a:extLst xmlns:a="http://schemas.openxmlformats.org/drawingml/2006/main">
              <a:ext uri="{FF2B5EF4-FFF2-40B4-BE49-F238E27FC236}">
                <a16:creationId xmlns:a16="http://schemas.microsoft.com/office/drawing/2014/main" id="{8A8981B0-5B0E-4530-8C85-138E5845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878487D1-57E8-44E1-9198-5E794EAB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A1482CF2-8E87-428F-9D55-E64490C1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67FB6A4D-B541-4045-ADF7-6A7CEB7A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BCA35053-6CF2-480D-BCB2-680D2F15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E4C9AD48-839D-4BCE-AD80-9770495A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88675D9E-C158-4875-A562-72EBD448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9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6" name="grid-h">
            <a:extLst xmlns:a="http://schemas.openxmlformats.org/drawingml/2006/main">
              <a:ext uri="{FF2B5EF4-FFF2-40B4-BE49-F238E27FC236}">
                <a16:creationId xmlns:a16="http://schemas.microsoft.com/office/drawing/2014/main" id="{83F655D6-7ABE-4333-BFF6-CB488E03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28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7" name="grid-h">
            <a:extLst xmlns:a="http://schemas.openxmlformats.org/drawingml/2006/main">
              <a:ext uri="{FF2B5EF4-FFF2-40B4-BE49-F238E27FC236}">
                <a16:creationId xmlns:a16="http://schemas.microsoft.com/office/drawing/2014/main" id="{FAF9B3DA-51FF-494B-9AA0-9AA9E710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67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8" name="grid-h">
            <a:extLst xmlns:a="http://schemas.openxmlformats.org/drawingml/2006/main">
              <a:ext uri="{FF2B5EF4-FFF2-40B4-BE49-F238E27FC236}">
                <a16:creationId xmlns:a16="http://schemas.microsoft.com/office/drawing/2014/main" id="{7ECE702D-179D-414E-BF73-944EC16F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05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9" name="grid-h">
            <a:extLst xmlns:a="http://schemas.openxmlformats.org/drawingml/2006/main">
              <a:ext uri="{FF2B5EF4-FFF2-40B4-BE49-F238E27FC236}">
                <a16:creationId xmlns:a16="http://schemas.microsoft.com/office/drawing/2014/main" id="{4D90841D-588C-45B0-99A5-DED010BE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0" name="grid-h">
            <a:extLst xmlns:a="http://schemas.openxmlformats.org/drawingml/2006/main">
              <a:ext uri="{FF2B5EF4-FFF2-40B4-BE49-F238E27FC236}">
                <a16:creationId xmlns:a16="http://schemas.microsoft.com/office/drawing/2014/main" id="{838C1A3E-B64F-4565-8E20-477EF0D8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1" name="grid-h">
            <a:extLst xmlns:a="http://schemas.openxmlformats.org/drawingml/2006/main">
              <a:ext uri="{FF2B5EF4-FFF2-40B4-BE49-F238E27FC236}">
                <a16:creationId xmlns:a16="http://schemas.microsoft.com/office/drawing/2014/main" id="{143842B7-1FB1-4CE6-9698-6ABFB0F2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19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2" name="grid-h">
            <a:extLst xmlns:a="http://schemas.openxmlformats.org/drawingml/2006/main">
              <a:ext uri="{FF2B5EF4-FFF2-40B4-BE49-F238E27FC236}">
                <a16:creationId xmlns:a16="http://schemas.microsoft.com/office/drawing/2014/main" id="{87780B82-B4F5-453D-A8EA-CE9344E7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3" name="grid-h">
            <a:extLst xmlns:a="http://schemas.openxmlformats.org/drawingml/2006/main">
              <a:ext uri="{FF2B5EF4-FFF2-40B4-BE49-F238E27FC236}">
                <a16:creationId xmlns:a16="http://schemas.microsoft.com/office/drawing/2014/main" id="{74188008-730D-4D32-9F5E-6AEC23FE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95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4" name="grid-h">
            <a:extLst xmlns:a="http://schemas.openxmlformats.org/drawingml/2006/main">
              <a:ext uri="{FF2B5EF4-FFF2-40B4-BE49-F238E27FC236}">
                <a16:creationId xmlns:a16="http://schemas.microsoft.com/office/drawing/2014/main" id="{EE6B8F49-4CCD-47F9-813D-C36FC9DE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5" name="grid-h">
            <a:extLst xmlns:a="http://schemas.openxmlformats.org/drawingml/2006/main">
              <a:ext uri="{FF2B5EF4-FFF2-40B4-BE49-F238E27FC236}">
                <a16:creationId xmlns:a16="http://schemas.microsoft.com/office/drawing/2014/main" id="{888FF63D-61DC-4554-82FE-FA6435C8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6" name="top-red-rule">
            <a:extLst xmlns:a="http://schemas.openxmlformats.org/drawingml/2006/main">
              <a:ext uri="{FF2B5EF4-FFF2-40B4-BE49-F238E27FC236}">
                <a16:creationId xmlns:a16="http://schemas.microsoft.com/office/drawing/2014/main" id="{0508BFD9-3AAC-4643-9CD8-F53B7E90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47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A2AFD98C-B2B7-43CA-BB07-7F2757BA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461"/>
          </a:solidFill>
          <a:ln xmlns:a="http://schemas.openxmlformats.org/drawingml/2006/main" w="0">
            <a:solidFill>
              <a:srgbClr val="E2C461"/>
            </a:solidFill>
            <a:prstDash val="solid"/>
          </a:ln>
        </p:spPr>
      </p:sp>
      <p:sp>
        <p:nvSpPr>
          <p:cNvPr id="4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64842D5-2D36-40BD-820E-E709C35A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4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9D794FB-4CEB-40E5-8DD3-B6E87D6C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PRODUCT DEMO</a:t>
            </a:r>
          </a:p>
        </p:txBody>
      </p:sp>
      <p:sp>
        <p:nvSpPr>
          <p:cNvPr id="50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38184D7-BFB6-4E4E-A3E8-D8A3A36C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6120E"/>
                </a:solidFill>
                <a:latin typeface="SimSun"/>
                <a:ea typeface="SimSun"/>
                <a:cs typeface="SimSun"/>
              </a:defRPr>
            </a:pPr>
            <a:r>
              <a:rPr sz="3900" b="0">
                <a:solidFill>
                  <a:srgbClr val="16120E"/>
                </a:solidFill>
                <a:latin typeface="SimSun"/>
                <a:ea typeface="SimSun"/>
                <a:cs typeface="SimSun"/>
              </a:rPr>
              <a:t>一条 5 分钟内能讲清楚的演示路径。</a:t>
            </a:r>
          </a:p>
        </p:txBody>
      </p:sp>
      <p:sp>
        <p:nvSpPr>
          <p:cNvPr id="51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44C501C3-EF95-4016-A558-19DBE1CF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比赛展示时，不需要把所有页面点一遍；只要证明 OperAI 如何把一个真实运营任务变成可复核交付物。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D3C846F-E3EB-40D2-AF6D-1A5ED375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  <p:sp>
        <p:nvSpPr>
          <p:cNvPr id="5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B9A73B9-AFAD-4281-A4E3-DD33467C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2A4"/>
          </a:solidFill>
          <a:ln xmlns:a="http://schemas.openxmlformats.org/drawingml/2006/main" w="0">
            <a:solidFill>
              <a:srgbClr val="BDB2A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3581D5-FA2A-4725-BA73-1C5BBFDD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OperAI Harness / Competition Pitch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E52611D-B630-4066-B2F3-C2004803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8CFC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1C9DFDE-EABE-4786-857C-713F0CA1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1C498C5-C64F-42AD-8CCA-8E04E592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0CAE1B2-470D-4538-AFB6-BA6F251A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670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选择职能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23202D7-A541-40AF-BBB3-4E8724B4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765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例如进入“活动运营”或“增长投放”工作台。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1438898-11BB-4B41-B3ED-1369AD38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8CFC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BE73EFF-96D4-412E-AAE0-875D1968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6761A4A-AD50-4A14-82F4-7B5E0A8B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33A2B4F-C774-47ED-A3CB-53C168D1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909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粘贴任务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43EA199-76AE-4195-95BC-41CF592B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10025"/>
            <a:ext cx="765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输入活动目标、产品卖点、用户反馈、预算和渠道约束。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68B4085-4851-484A-98EB-90D7DD74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8CFC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664B1F5-BA24-440B-8633-F7F7F759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EEBF6A2-636D-4F4B-83E2-7AB89357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B7F1F7A-933D-4D30-986A-77E9A3CF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148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运行 Harness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E87F150-BCE1-47AD-9165-56B69AB4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33925"/>
            <a:ext cx="765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系统自动推荐并执行一组 Skill，不要求用户逐个选择。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C9C695C-1857-4D95-8984-85E4F71D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95900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8CFC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546EBEF-9303-4E6C-B3E7-A84D29E7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959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A78EB93-07A8-4C8E-A1DC-5E016E2F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673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A884B09-9124-43FF-921F-A0CF4D98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387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查看交付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A445EBB-597E-4B9F-B228-F64394AE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57825"/>
            <a:ext cx="765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在运行档案和质量检验里看到方案、证据、风险和导出版本。</a:t>
            </a:r>
          </a:p>
        </p:txBody>
      </p:sp>
    </p:spTree>
    <p:extLst>
      <p:ext uri="{BB962C8B-B14F-4D97-AF65-F5344CB8AC3E}">
        <p14:creationId xmlns:p14="http://schemas.microsoft.com/office/powerpoint/2010/main" val="3802795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-bg">
            <a:extLst xmlns:a="http://schemas.openxmlformats.org/drawingml/2006/main">
              <a:ext uri="{FF2B5EF4-FFF2-40B4-BE49-F238E27FC236}">
                <a16:creationId xmlns:a16="http://schemas.microsoft.com/office/drawing/2014/main" id="{C19B18FB-31BC-4FA2-922E-7D8C7534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0AD37A53-D5AC-4217-96E3-DB287314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A5EBB76A-482A-4CC2-9164-85AD4C1D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87B75A28-1168-43BE-9E21-D0D61EE3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0F3B8FC9-E60B-4B42-B4B4-E65EC44E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90A90588-66E5-4533-B52A-91C67388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5B2149A8-6C74-451C-8AA6-FA53A776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3552CBAD-78BD-46E1-99F5-D3DEA92C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CE632B61-EBE8-4096-BCCB-62E758B9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829C7455-0CF0-4960-BEBD-2FD7898F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BCBED1F9-0B06-41D0-8D7F-90B705DF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C3C688B0-13A1-41BD-A891-9D71EC4E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50BBBA70-21C6-41DF-95B2-61BAFBA5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78F63521-3935-4C55-939F-D640B399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68BD70EB-99DC-49B5-9E67-2149BC4D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018D1310-F00E-44BA-A287-15EE9511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80D5509B-002D-413C-A247-7AD00CA0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F9B8E368-A6B5-4085-B08F-48EAC9CF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C664F596-9748-44BA-AE31-E9BE051E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694E1F54-AABD-4425-B80F-11B065FC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3A67763C-D6A5-45C5-8FD4-C5543D43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703754A4-51F8-427A-B20D-642C8C3A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03AD582D-53E5-4DAD-8EF3-4952CDCF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4" name="grid-v">
            <a:extLst xmlns:a="http://schemas.openxmlformats.org/drawingml/2006/main">
              <a:ext uri="{FF2B5EF4-FFF2-40B4-BE49-F238E27FC236}">
                <a16:creationId xmlns:a16="http://schemas.microsoft.com/office/drawing/2014/main" id="{80AA5A72-A9F9-4621-92A4-0C1D0C63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5" name="grid-v">
            <a:extLst xmlns:a="http://schemas.openxmlformats.org/drawingml/2006/main">
              <a:ext uri="{FF2B5EF4-FFF2-40B4-BE49-F238E27FC236}">
                <a16:creationId xmlns:a16="http://schemas.microsoft.com/office/drawing/2014/main" id="{FFE73985-86E4-42A4-ABC8-69DD86A7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6" name="grid-v">
            <a:extLst xmlns:a="http://schemas.openxmlformats.org/drawingml/2006/main">
              <a:ext uri="{FF2B5EF4-FFF2-40B4-BE49-F238E27FC236}">
                <a16:creationId xmlns:a16="http://schemas.microsoft.com/office/drawing/2014/main" id="{314F20B0-3867-4512-8D98-AF2F4042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7" name="grid-v">
            <a:extLst xmlns:a="http://schemas.openxmlformats.org/drawingml/2006/main">
              <a:ext uri="{FF2B5EF4-FFF2-40B4-BE49-F238E27FC236}">
                <a16:creationId xmlns:a16="http://schemas.microsoft.com/office/drawing/2014/main" id="{8F3E808C-180C-4210-BD66-8D80EF63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8" name="grid-v">
            <a:extLst xmlns:a="http://schemas.openxmlformats.org/drawingml/2006/main">
              <a:ext uri="{FF2B5EF4-FFF2-40B4-BE49-F238E27FC236}">
                <a16:creationId xmlns:a16="http://schemas.microsoft.com/office/drawing/2014/main" id="{FECC4F4F-305B-4F93-8A63-7CF103CF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9" name="grid-v">
            <a:extLst xmlns:a="http://schemas.openxmlformats.org/drawingml/2006/main">
              <a:ext uri="{FF2B5EF4-FFF2-40B4-BE49-F238E27FC236}">
                <a16:creationId xmlns:a16="http://schemas.microsoft.com/office/drawing/2014/main" id="{47CDFFD4-39FD-4FEA-9A65-494D6654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71D2F07E-17BE-4B9B-9CAC-DE3A103C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09C5186F-21E8-43BD-99BC-CA3E2C1F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12EE2EDF-4800-4B76-AD2E-6DB69543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37963656-6860-4C4F-B950-4A09580B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0056298B-7A56-4820-A9CE-5238920D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CCE55261-D308-474D-A19D-4668305D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9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6" name="grid-h">
            <a:extLst xmlns:a="http://schemas.openxmlformats.org/drawingml/2006/main">
              <a:ext uri="{FF2B5EF4-FFF2-40B4-BE49-F238E27FC236}">
                <a16:creationId xmlns:a16="http://schemas.microsoft.com/office/drawing/2014/main" id="{365890DB-16B9-4CB1-B6F1-EFD1C89B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28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7" name="grid-h">
            <a:extLst xmlns:a="http://schemas.openxmlformats.org/drawingml/2006/main">
              <a:ext uri="{FF2B5EF4-FFF2-40B4-BE49-F238E27FC236}">
                <a16:creationId xmlns:a16="http://schemas.microsoft.com/office/drawing/2014/main" id="{B12ECC2D-E7F8-41D8-B924-C5B2223E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67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8" name="grid-h">
            <a:extLst xmlns:a="http://schemas.openxmlformats.org/drawingml/2006/main">
              <a:ext uri="{FF2B5EF4-FFF2-40B4-BE49-F238E27FC236}">
                <a16:creationId xmlns:a16="http://schemas.microsoft.com/office/drawing/2014/main" id="{FFD8BE47-3260-45D9-A439-4C95B62C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05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9" name="grid-h">
            <a:extLst xmlns:a="http://schemas.openxmlformats.org/drawingml/2006/main">
              <a:ext uri="{FF2B5EF4-FFF2-40B4-BE49-F238E27FC236}">
                <a16:creationId xmlns:a16="http://schemas.microsoft.com/office/drawing/2014/main" id="{4E2D9081-7F15-44A0-B670-31EF09A0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0" name="grid-h">
            <a:extLst xmlns:a="http://schemas.openxmlformats.org/drawingml/2006/main">
              <a:ext uri="{FF2B5EF4-FFF2-40B4-BE49-F238E27FC236}">
                <a16:creationId xmlns:a16="http://schemas.microsoft.com/office/drawing/2014/main" id="{7D06F1A7-6EFB-4DA4-AF98-3ECCAE40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1" name="grid-h">
            <a:extLst xmlns:a="http://schemas.openxmlformats.org/drawingml/2006/main">
              <a:ext uri="{FF2B5EF4-FFF2-40B4-BE49-F238E27FC236}">
                <a16:creationId xmlns:a16="http://schemas.microsoft.com/office/drawing/2014/main" id="{655F44FA-5408-4DE9-BF48-149987DA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19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2" name="grid-h">
            <a:extLst xmlns:a="http://schemas.openxmlformats.org/drawingml/2006/main">
              <a:ext uri="{FF2B5EF4-FFF2-40B4-BE49-F238E27FC236}">
                <a16:creationId xmlns:a16="http://schemas.microsoft.com/office/drawing/2014/main" id="{33575E0D-3585-42A7-8486-9178C3A2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3" name="grid-h">
            <a:extLst xmlns:a="http://schemas.openxmlformats.org/drawingml/2006/main">
              <a:ext uri="{FF2B5EF4-FFF2-40B4-BE49-F238E27FC236}">
                <a16:creationId xmlns:a16="http://schemas.microsoft.com/office/drawing/2014/main" id="{B89B69E1-436A-45EF-8761-C4AC6EB8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95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4" name="grid-h">
            <a:extLst xmlns:a="http://schemas.openxmlformats.org/drawingml/2006/main">
              <a:ext uri="{FF2B5EF4-FFF2-40B4-BE49-F238E27FC236}">
                <a16:creationId xmlns:a16="http://schemas.microsoft.com/office/drawing/2014/main" id="{581BA49B-0D4E-4230-AD13-B307BAFA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5" name="grid-h">
            <a:extLst xmlns:a="http://schemas.openxmlformats.org/drawingml/2006/main">
              <a:ext uri="{FF2B5EF4-FFF2-40B4-BE49-F238E27FC236}">
                <a16:creationId xmlns:a16="http://schemas.microsoft.com/office/drawing/2014/main" id="{295377BA-418A-4A99-AC51-F079EE9A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6" name="top-red-rule">
            <a:extLst xmlns:a="http://schemas.openxmlformats.org/drawingml/2006/main">
              <a:ext uri="{FF2B5EF4-FFF2-40B4-BE49-F238E27FC236}">
                <a16:creationId xmlns:a16="http://schemas.microsoft.com/office/drawing/2014/main" id="{133D2DC3-D413-4C24-B460-EEEE45DD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47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925D4478-A322-4732-9200-AB68F575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461"/>
          </a:solidFill>
          <a:ln xmlns:a="http://schemas.openxmlformats.org/drawingml/2006/main" w="0">
            <a:solidFill>
              <a:srgbClr val="E2C461"/>
            </a:solidFill>
            <a:prstDash val="solid"/>
          </a:ln>
        </p:spPr>
      </p:sp>
      <p:sp>
        <p:nvSpPr>
          <p:cNvPr id="4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304B5DE-D8BD-4252-84BE-9FE9EAA2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4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A5372E2-4A3B-49BF-871D-A0D812F8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TECH ARCHITECTURE</a:t>
            </a:r>
          </a:p>
        </p:txBody>
      </p:sp>
      <p:sp>
        <p:nvSpPr>
          <p:cNvPr id="50" name="claim-title">
            <a:extLst xmlns:a="http://schemas.openxmlformats.org/drawingml/2006/main">
              <a:ext uri="{FF2B5EF4-FFF2-40B4-BE49-F238E27FC236}">
                <a16:creationId xmlns:a16="http://schemas.microsoft.com/office/drawing/2014/main" id="{A9F4B237-6F64-46DF-85E0-66B162A4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6120E"/>
                </a:solidFill>
                <a:latin typeface="SimSun"/>
                <a:ea typeface="SimSun"/>
                <a:cs typeface="SimSun"/>
              </a:defRPr>
            </a:pPr>
            <a:r>
              <a:rPr sz="3900" b="0">
                <a:solidFill>
                  <a:srgbClr val="16120E"/>
                </a:solidFill>
                <a:latin typeface="SimSun"/>
                <a:ea typeface="SimSun"/>
                <a:cs typeface="SimSun"/>
              </a:rPr>
              <a:t>技术亮点不是模型本身，而是让模型输出进入可治理链路。</a:t>
            </a:r>
          </a:p>
        </p:txBody>
      </p:sp>
      <p:sp>
        <p:nvSpPr>
          <p:cNvPr id="51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BEBD162C-F105-4D27-BF75-D79339DB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OperAI 使用 OpenAI-compatible 模型接口，但核心价值在于 Skill Registry、Harness 编排、运行档案和质量检验。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70B5D44-879D-44A6-9129-908DFCD6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09</a:t>
            </a:r>
          </a:p>
        </p:txBody>
      </p:sp>
      <p:sp>
        <p:nvSpPr>
          <p:cNvPr id="5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BFAA795-3532-4FE8-88E3-763979ED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2A4"/>
          </a:solidFill>
          <a:ln xmlns:a="http://schemas.openxmlformats.org/drawingml/2006/main" w="0">
            <a:solidFill>
              <a:srgbClr val="BDB2A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AE55B4F-29B4-434D-A59B-D0BDEE68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OperAI Harness / Competition Pitch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37D6FC7-BE17-4D00-B9BE-3D43007F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2190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2B3744F-F8A7-436F-9A71-7E8076CB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38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F0934B8-0992-4CB2-8633-D8BF06B1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6710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rPr>
              <a:t>输入层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7C5180C-9E37-48F4-B44B-C43C255D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任务材料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3362244-D41E-446B-BEEA-5DE064FE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1771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运营素材、平台数据、用户反馈、品牌口径。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2A9C863-8414-4371-BC97-F89A03C0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76600"/>
            <a:ext cx="2190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47B5318-44BD-4F7A-A6A3-522E79BF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76600"/>
            <a:ext cx="38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288C090-A9B0-4B8D-9A07-28944E14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6710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rPr>
              <a:t>能力层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E35BB1-10CA-4CEB-A6C7-AD6BB031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1000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Skill Registry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6DF5F6D-A348-4072-A0EB-666E9B29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67200"/>
            <a:ext cx="1771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52 个运营 Skill，可内置也可由客户新增。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4587D33-9316-47F3-B2CE-4B0AE1E2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76600"/>
            <a:ext cx="2190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F0B"/>
          </a:solidFill>
          <a:ln xmlns:a="http://schemas.openxmlformats.org/drawingml/2006/main" w="9525">
            <a:solidFill>
              <a:srgbClr val="120F0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9AA9EF5-4295-4256-BF9C-AC7AD21D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6710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rPr>
              <a:t>编排层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0371AEF-80AE-45D8-B97B-A5483397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000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Harness Run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FF4BFDD-2997-4203-87D7-D65B6A29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1771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选择能力、控制顺序、传递上下文。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C10E04F-F1E1-49AA-AFC8-1FF79C97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00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9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9EF"/>
                </a:solidFill>
                <a:latin typeface="Microsoft YaHei"/>
                <a:ea typeface="Microsoft YaHei"/>
                <a:cs typeface="Microsoft YaHei"/>
              </a:rPr>
              <a:t>Harness Run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D0D77E0-957E-4386-9512-4A5E3E1B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CD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CDBE"/>
                </a:solidFill>
                <a:latin typeface="Microsoft YaHei"/>
                <a:ea typeface="Microsoft YaHei"/>
                <a:cs typeface="Microsoft YaHei"/>
              </a:rPr>
              <a:t>选择能力、控制顺序、传递上下文。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AEF97F9-E4A7-4CE4-B099-B0D0C93A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76600"/>
            <a:ext cx="2190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C15AE5D-9655-45F5-BE4D-12903391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76600"/>
            <a:ext cx="38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0A4F53F-5F9F-4A41-9F0B-18D203FC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6710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rPr>
              <a:t>治理层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B8E240A-3A38-450F-BE76-786A2442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1000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质量检验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3471705-36AE-4C28-9AFC-D4547B64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67200"/>
            <a:ext cx="1771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证据覆盖、风险检查、交付完整度。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2D27B25-50C1-4969-B01C-2302725D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862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B0085DA-42C1-4BE2-9C44-47B0FFF4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862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D380CB6-A141-49EC-8C15-5B877F2B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862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921745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-bg">
            <a:extLst xmlns:a="http://schemas.openxmlformats.org/drawingml/2006/main">
              <a:ext uri="{FF2B5EF4-FFF2-40B4-BE49-F238E27FC236}">
                <a16:creationId xmlns:a16="http://schemas.microsoft.com/office/drawing/2014/main" id="{343084BF-8DA1-4C4B-B300-DD8910F1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383B9FB2-25E9-49A3-8C54-76760796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D8884D4D-51E8-4D34-9FCC-1C6D63C1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68E49D35-986D-4DCB-A3C7-EAC30309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E9109EBD-E134-4777-BEE7-51275B89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34E0C198-30DD-4A6A-A1B8-C7CC2837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7B3FF461-15C0-4C6A-89F2-A0CE3261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A5377000-B9FB-44FD-92C2-7CA938B9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DC1FDA0A-D3F7-4F7A-BCFD-790919AC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DF8EAD52-CE98-4CA8-9AAF-CD7BACB7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ACA48548-C7D0-4867-8EB5-7E0865E7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351E9D72-4A08-4201-8684-E7B91ABB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F686A09F-EB06-4469-A56C-5D911C96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F6B7BCA3-9EDE-4796-B299-C0D06BF9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2A34C6AE-1A46-41D5-BB49-BCDC7EA0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A9B26731-CEC8-41D6-9289-F7A650FF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298BA913-FF4F-4CC8-B01E-62AF98F4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03242E5C-F15F-40FC-B6E3-D0597645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0F2E3715-496E-4F76-A7C5-3C34F0FD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62804D88-AC78-4937-8340-1E11B52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1D1C2B5F-EE1C-4A64-A337-3DE14765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B19647F5-3C34-409F-A857-A87B6F7C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15444453-3093-490D-8996-BCC2577C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4" name="grid-v">
            <a:extLst xmlns:a="http://schemas.openxmlformats.org/drawingml/2006/main">
              <a:ext uri="{FF2B5EF4-FFF2-40B4-BE49-F238E27FC236}">
                <a16:creationId xmlns:a16="http://schemas.microsoft.com/office/drawing/2014/main" id="{3E5FFBB9-B7F1-4213-8DCA-1B9F24CE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5" name="grid-v">
            <a:extLst xmlns:a="http://schemas.openxmlformats.org/drawingml/2006/main">
              <a:ext uri="{FF2B5EF4-FFF2-40B4-BE49-F238E27FC236}">
                <a16:creationId xmlns:a16="http://schemas.microsoft.com/office/drawing/2014/main" id="{4F58AEC2-473B-4DB7-9834-B9C3114A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6" name="grid-v">
            <a:extLst xmlns:a="http://schemas.openxmlformats.org/drawingml/2006/main">
              <a:ext uri="{FF2B5EF4-FFF2-40B4-BE49-F238E27FC236}">
                <a16:creationId xmlns:a16="http://schemas.microsoft.com/office/drawing/2014/main" id="{90AA8A94-F14E-4C76-A786-60011E4D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7" name="grid-v">
            <a:extLst xmlns:a="http://schemas.openxmlformats.org/drawingml/2006/main">
              <a:ext uri="{FF2B5EF4-FFF2-40B4-BE49-F238E27FC236}">
                <a16:creationId xmlns:a16="http://schemas.microsoft.com/office/drawing/2014/main" id="{EB5B0B6A-452A-4F7F-9A8E-32B96F85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8" name="grid-v">
            <a:extLst xmlns:a="http://schemas.openxmlformats.org/drawingml/2006/main">
              <a:ext uri="{FF2B5EF4-FFF2-40B4-BE49-F238E27FC236}">
                <a16:creationId xmlns:a16="http://schemas.microsoft.com/office/drawing/2014/main" id="{65197ECD-D9F8-4288-9D57-84054286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9" name="grid-v">
            <a:extLst xmlns:a="http://schemas.openxmlformats.org/drawingml/2006/main">
              <a:ext uri="{FF2B5EF4-FFF2-40B4-BE49-F238E27FC236}">
                <a16:creationId xmlns:a16="http://schemas.microsoft.com/office/drawing/2014/main" id="{A4F0E8F3-8512-4E6C-B18B-9F99685D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64CD9A25-53CF-4532-A0FD-34610B6B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934C7403-37F8-40D9-A3EA-54D402B3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9E79B54E-4A78-4CD3-88AB-DE28E181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51364627-2E0C-4F43-A0DF-86DD41B3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21CC8C6A-758A-4786-AC57-45338889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A91C25D3-A78A-407D-BFF4-3FC5C5BA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9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6" name="grid-h">
            <a:extLst xmlns:a="http://schemas.openxmlformats.org/drawingml/2006/main">
              <a:ext uri="{FF2B5EF4-FFF2-40B4-BE49-F238E27FC236}">
                <a16:creationId xmlns:a16="http://schemas.microsoft.com/office/drawing/2014/main" id="{75CF9139-8C85-457A-B2B7-AA3476F1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28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7" name="grid-h">
            <a:extLst xmlns:a="http://schemas.openxmlformats.org/drawingml/2006/main">
              <a:ext uri="{FF2B5EF4-FFF2-40B4-BE49-F238E27FC236}">
                <a16:creationId xmlns:a16="http://schemas.microsoft.com/office/drawing/2014/main" id="{0310108C-9137-41BD-B61A-3B1005ED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67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8" name="grid-h">
            <a:extLst xmlns:a="http://schemas.openxmlformats.org/drawingml/2006/main">
              <a:ext uri="{FF2B5EF4-FFF2-40B4-BE49-F238E27FC236}">
                <a16:creationId xmlns:a16="http://schemas.microsoft.com/office/drawing/2014/main" id="{FECE9072-A2E3-4090-9174-48BF2351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05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9" name="grid-h">
            <a:extLst xmlns:a="http://schemas.openxmlformats.org/drawingml/2006/main">
              <a:ext uri="{FF2B5EF4-FFF2-40B4-BE49-F238E27FC236}">
                <a16:creationId xmlns:a16="http://schemas.microsoft.com/office/drawing/2014/main" id="{2A163951-73AB-46A2-9BAD-FBCAD239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0" name="grid-h">
            <a:extLst xmlns:a="http://schemas.openxmlformats.org/drawingml/2006/main">
              <a:ext uri="{FF2B5EF4-FFF2-40B4-BE49-F238E27FC236}">
                <a16:creationId xmlns:a16="http://schemas.microsoft.com/office/drawing/2014/main" id="{7BAE46B8-5886-42B8-A72E-B7F80F8F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1" name="grid-h">
            <a:extLst xmlns:a="http://schemas.openxmlformats.org/drawingml/2006/main">
              <a:ext uri="{FF2B5EF4-FFF2-40B4-BE49-F238E27FC236}">
                <a16:creationId xmlns:a16="http://schemas.microsoft.com/office/drawing/2014/main" id="{3A54556C-AA73-488B-AC34-6E64BFF4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19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2" name="grid-h">
            <a:extLst xmlns:a="http://schemas.openxmlformats.org/drawingml/2006/main">
              <a:ext uri="{FF2B5EF4-FFF2-40B4-BE49-F238E27FC236}">
                <a16:creationId xmlns:a16="http://schemas.microsoft.com/office/drawing/2014/main" id="{13CE6EAE-A98A-476F-A777-875D73FA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3" name="grid-h">
            <a:extLst xmlns:a="http://schemas.openxmlformats.org/drawingml/2006/main">
              <a:ext uri="{FF2B5EF4-FFF2-40B4-BE49-F238E27FC236}">
                <a16:creationId xmlns:a16="http://schemas.microsoft.com/office/drawing/2014/main" id="{8807761A-C090-4925-9CA1-BAD0F023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95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4" name="grid-h">
            <a:extLst xmlns:a="http://schemas.openxmlformats.org/drawingml/2006/main">
              <a:ext uri="{FF2B5EF4-FFF2-40B4-BE49-F238E27FC236}">
                <a16:creationId xmlns:a16="http://schemas.microsoft.com/office/drawing/2014/main" id="{A20B75D1-4F0F-47AA-96EA-3CDB3214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5" name="grid-h">
            <a:extLst xmlns:a="http://schemas.openxmlformats.org/drawingml/2006/main">
              <a:ext uri="{FF2B5EF4-FFF2-40B4-BE49-F238E27FC236}">
                <a16:creationId xmlns:a16="http://schemas.microsoft.com/office/drawing/2014/main" id="{21F6C484-CCF5-494F-89CF-81549744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6" name="top-red-rule">
            <a:extLst xmlns:a="http://schemas.openxmlformats.org/drawingml/2006/main">
              <a:ext uri="{FF2B5EF4-FFF2-40B4-BE49-F238E27FC236}">
                <a16:creationId xmlns:a16="http://schemas.microsoft.com/office/drawing/2014/main" id="{B211631B-6FB8-4C7C-8D30-CCBE3BFD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47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0A8C7936-08CE-416E-9C40-40CF650A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461"/>
          </a:solidFill>
          <a:ln xmlns:a="http://schemas.openxmlformats.org/drawingml/2006/main" w="0">
            <a:solidFill>
              <a:srgbClr val="E2C461"/>
            </a:solidFill>
            <a:prstDash val="solid"/>
          </a:ln>
        </p:spPr>
      </p:sp>
      <p:sp>
        <p:nvSpPr>
          <p:cNvPr id="4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0FC32B0-0F02-4438-8BCA-298FCFC4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4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A587871-4703-48C0-B387-D437CEC4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BUSINESS MODEL</a:t>
            </a:r>
          </a:p>
        </p:txBody>
      </p:sp>
      <p:sp>
        <p:nvSpPr>
          <p:cNvPr id="50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AAB8F48-0181-40ED-B90F-0339CF5E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6120E"/>
                </a:solidFill>
                <a:latin typeface="SimSun"/>
                <a:ea typeface="SimSun"/>
                <a:cs typeface="SimSun"/>
              </a:defRPr>
            </a:pPr>
            <a:r>
              <a:rPr sz="3900" b="0">
                <a:solidFill>
                  <a:srgbClr val="16120E"/>
                </a:solidFill>
                <a:latin typeface="SimSun"/>
                <a:ea typeface="SimSun"/>
                <a:cs typeface="SimSun"/>
              </a:rPr>
              <a:t>商业化不是卖一次 Demo，而是把运营能力变成组织级订阅。</a:t>
            </a:r>
          </a:p>
        </p:txBody>
      </p:sp>
      <p:sp>
        <p:nvSpPr>
          <p:cNvPr id="51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82673AFB-0419-4F0E-93CF-1DA4DDF4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产品可以从咨询式试点进入，再沉淀成团队版 SaaS，最后通过行业 Skill、私有化和 API 集成扩展收入。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C447FF-0E30-45F0-AE97-776AB84C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10</a:t>
            </a:r>
          </a:p>
        </p:txBody>
      </p:sp>
      <p:sp>
        <p:nvSpPr>
          <p:cNvPr id="5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2C1C3F9-AE02-4C70-8A81-5831635E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2A4"/>
          </a:solidFill>
          <a:ln xmlns:a="http://schemas.openxmlformats.org/drawingml/2006/main" w="0">
            <a:solidFill>
              <a:srgbClr val="BDB2A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2F3B37-69B9-4D68-990B-04B0CCA9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OperAI Harness / Competition Pitch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356C3F7-359B-4D07-B288-DAEB9F71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381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DF50678-38A0-4CF5-9CC2-A8A9AD31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381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D10FA22-461F-4A06-AD99-BA39C047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rPr>
              <a:t>第一阶段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BF1E967-B8F0-48A3-99AE-C3A0C149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7190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试点项目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C1A675D-082E-4FDA-AD7B-7773860E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962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按企业运营团队做场景导入：3-5 个核心职能、1-2 条典型任务链路。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38A878-4CF9-4773-AF6F-71387CB2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2381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9498C12-AAE3-4147-BC3B-077653E8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381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8645871-0EA0-494D-98D8-79739C4A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290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rPr>
              <a:t>第二阶段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D6338D6-8DA9-4E63-A481-6B52227A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7190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团队版 SaaS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94A96A2-C066-49D6-8443-BDBDCC7B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29100"/>
            <a:ext cx="1962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按席位、职能入口和运行次数收费，面向运营团队持续使用。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DB679E8-8AC5-4A01-A116-FE923741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2381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2E117E2-D9A7-4699-B07F-1B21115E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381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04F3F44-0D0C-4B5A-A9C1-49DE23D6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rPr>
              <a:t>第三阶段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2096019-D99A-40ED-9086-F95D0F51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7190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行业 Skill 包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CB5C340-85C4-4E57-B65E-33B176B6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1962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为电商、教育、消费、SaaS 等行业沉淀专属 Skill 与质量规则。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3FBA3FF-28FA-46A6-AC81-C5FA5292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2381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1DBAC64-8869-46AE-95C3-59C73B31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381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493B762-FDCB-4C06-8ED7-DA3C3626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290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3824"/>
                </a:solidFill>
                <a:latin typeface="Microsoft YaHei"/>
                <a:ea typeface="Microsoft YaHei"/>
                <a:cs typeface="Microsoft YaHei"/>
              </a:rPr>
              <a:t>第四阶段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C5B1F3A-CD62-42AE-96F7-371F0DC8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7190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私有化 / API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F6F6D06-6B53-4E56-9D82-D3B657B4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29100"/>
            <a:ext cx="1962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服务大型客户的数据、安全、流程集成和内部发布系统。</a:t>
            </a:r>
          </a:p>
        </p:txBody>
      </p:sp>
    </p:spTree>
    <p:extLst>
      <p:ext uri="{BB962C8B-B14F-4D97-AF65-F5344CB8AC3E}">
        <p14:creationId xmlns:p14="http://schemas.microsoft.com/office/powerpoint/2010/main" val="155637990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-bg">
            <a:extLst xmlns:a="http://schemas.openxmlformats.org/drawingml/2006/main">
              <a:ext uri="{FF2B5EF4-FFF2-40B4-BE49-F238E27FC236}">
                <a16:creationId xmlns:a16="http://schemas.microsoft.com/office/drawing/2014/main" id="{1F0F3C3D-DA05-4473-9964-9411C432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B844D695-846C-4A4E-A7CA-73B51EB0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83B6F0C5-1DAB-4B7D-81D8-F9E7D3FA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760CFCED-78D8-47F7-9BED-F5923FCF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F324A5FD-913A-425E-95D9-464972CF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9BAF880D-E46C-42CC-8F09-3E6738A8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B3E47CA9-290E-4C58-A8CF-EA8CD0CF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E9562D91-2BEB-4728-BEB5-B3B12E57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3D0CA65A-1A97-4B36-B7A3-E1A5D7DC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A3254451-F480-49ED-94C3-109ED1A3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4148FEE2-2951-4426-972D-61D73BAE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2B409A11-5326-49C8-8625-E8BC9C0C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97ADCC65-6783-41DE-B0FF-3029E645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4C60E96E-E455-49F1-B40D-A8F8E0AD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A9FF67B5-ED3C-4130-884E-92B3D9FC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A4EC19F4-56CE-4E2A-8AA2-6AA2BEF3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1C49506B-8B05-4691-9198-E9FB493F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C56F3AAE-5540-4F5C-835D-1BDBC2E4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A22092C9-02FC-49F9-A5F5-3C989C5B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1A01F217-7ACE-496B-A6C4-739CFA51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72E2847C-DD75-48A0-8D1F-6905EEA9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B657D355-4039-42EE-BBBF-2D1BE675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319E37E4-F6C0-4602-8D53-D17741B7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4" name="grid-v">
            <a:extLst xmlns:a="http://schemas.openxmlformats.org/drawingml/2006/main">
              <a:ext uri="{FF2B5EF4-FFF2-40B4-BE49-F238E27FC236}">
                <a16:creationId xmlns:a16="http://schemas.microsoft.com/office/drawing/2014/main" id="{85D02E49-8BEF-48D8-883C-161BA249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5" name="grid-v">
            <a:extLst xmlns:a="http://schemas.openxmlformats.org/drawingml/2006/main">
              <a:ext uri="{FF2B5EF4-FFF2-40B4-BE49-F238E27FC236}">
                <a16:creationId xmlns:a16="http://schemas.microsoft.com/office/drawing/2014/main" id="{2429690B-D912-491C-A72D-A906B74E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6" name="grid-v">
            <a:extLst xmlns:a="http://schemas.openxmlformats.org/drawingml/2006/main">
              <a:ext uri="{FF2B5EF4-FFF2-40B4-BE49-F238E27FC236}">
                <a16:creationId xmlns:a16="http://schemas.microsoft.com/office/drawing/2014/main" id="{F9823BD6-F3E0-4558-8251-C09CB931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7" name="grid-v">
            <a:extLst xmlns:a="http://schemas.openxmlformats.org/drawingml/2006/main">
              <a:ext uri="{FF2B5EF4-FFF2-40B4-BE49-F238E27FC236}">
                <a16:creationId xmlns:a16="http://schemas.microsoft.com/office/drawing/2014/main" id="{3582788B-6159-4BF0-A70D-8F855261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8" name="grid-v">
            <a:extLst xmlns:a="http://schemas.openxmlformats.org/drawingml/2006/main">
              <a:ext uri="{FF2B5EF4-FFF2-40B4-BE49-F238E27FC236}">
                <a16:creationId xmlns:a16="http://schemas.microsoft.com/office/drawing/2014/main" id="{F1FF248F-2203-49CB-8448-FE6C10A9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9" name="grid-v">
            <a:extLst xmlns:a="http://schemas.openxmlformats.org/drawingml/2006/main">
              <a:ext uri="{FF2B5EF4-FFF2-40B4-BE49-F238E27FC236}">
                <a16:creationId xmlns:a16="http://schemas.microsoft.com/office/drawing/2014/main" id="{B321D292-C5EF-4C83-95DD-DC0D3F2B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BDE316B3-B8C7-4ED4-A6F9-92C7576D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232FC6CE-F544-498E-9DEE-B0CDEA2B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111A4DBD-9389-400E-925A-DA162772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0ECD48FA-1B1A-401C-B8FB-F9C2A5FF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ED7648A6-BB80-4797-8FB9-50F07D96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689F153C-3E84-48F1-8E4A-BBD78B36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9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6" name="grid-h">
            <a:extLst xmlns:a="http://schemas.openxmlformats.org/drawingml/2006/main">
              <a:ext uri="{FF2B5EF4-FFF2-40B4-BE49-F238E27FC236}">
                <a16:creationId xmlns:a16="http://schemas.microsoft.com/office/drawing/2014/main" id="{BAEB0F20-6CBD-4A48-826A-BB34A2DB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28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7" name="grid-h">
            <a:extLst xmlns:a="http://schemas.openxmlformats.org/drawingml/2006/main">
              <a:ext uri="{FF2B5EF4-FFF2-40B4-BE49-F238E27FC236}">
                <a16:creationId xmlns:a16="http://schemas.microsoft.com/office/drawing/2014/main" id="{C980F8CD-0B8E-4E19-B4EB-5FFBD8DC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67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8" name="grid-h">
            <a:extLst xmlns:a="http://schemas.openxmlformats.org/drawingml/2006/main">
              <a:ext uri="{FF2B5EF4-FFF2-40B4-BE49-F238E27FC236}">
                <a16:creationId xmlns:a16="http://schemas.microsoft.com/office/drawing/2014/main" id="{988E1FD5-9A3D-48C9-9E6E-46B0A4DF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05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9" name="grid-h">
            <a:extLst xmlns:a="http://schemas.openxmlformats.org/drawingml/2006/main">
              <a:ext uri="{FF2B5EF4-FFF2-40B4-BE49-F238E27FC236}">
                <a16:creationId xmlns:a16="http://schemas.microsoft.com/office/drawing/2014/main" id="{5F947FFB-FFDC-44F1-93F2-3D44398C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0" name="grid-h">
            <a:extLst xmlns:a="http://schemas.openxmlformats.org/drawingml/2006/main">
              <a:ext uri="{FF2B5EF4-FFF2-40B4-BE49-F238E27FC236}">
                <a16:creationId xmlns:a16="http://schemas.microsoft.com/office/drawing/2014/main" id="{846F91FA-1A32-416D-A63A-639FCAE1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1" name="grid-h">
            <a:extLst xmlns:a="http://schemas.openxmlformats.org/drawingml/2006/main">
              <a:ext uri="{FF2B5EF4-FFF2-40B4-BE49-F238E27FC236}">
                <a16:creationId xmlns:a16="http://schemas.microsoft.com/office/drawing/2014/main" id="{4CD97419-F556-49D2-AEC8-453C092F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19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2" name="grid-h">
            <a:extLst xmlns:a="http://schemas.openxmlformats.org/drawingml/2006/main">
              <a:ext uri="{FF2B5EF4-FFF2-40B4-BE49-F238E27FC236}">
                <a16:creationId xmlns:a16="http://schemas.microsoft.com/office/drawing/2014/main" id="{B22C22AF-BF0F-4B30-88ED-8355F710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3" name="grid-h">
            <a:extLst xmlns:a="http://schemas.openxmlformats.org/drawingml/2006/main">
              <a:ext uri="{FF2B5EF4-FFF2-40B4-BE49-F238E27FC236}">
                <a16:creationId xmlns:a16="http://schemas.microsoft.com/office/drawing/2014/main" id="{CBBBA392-86F5-4C91-BC6C-03AAEC9A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95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4" name="grid-h">
            <a:extLst xmlns:a="http://schemas.openxmlformats.org/drawingml/2006/main">
              <a:ext uri="{FF2B5EF4-FFF2-40B4-BE49-F238E27FC236}">
                <a16:creationId xmlns:a16="http://schemas.microsoft.com/office/drawing/2014/main" id="{0B784702-AA6A-4480-99B4-BE40FDF4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5" name="grid-h">
            <a:extLst xmlns:a="http://schemas.openxmlformats.org/drawingml/2006/main">
              <a:ext uri="{FF2B5EF4-FFF2-40B4-BE49-F238E27FC236}">
                <a16:creationId xmlns:a16="http://schemas.microsoft.com/office/drawing/2014/main" id="{B1FCF3AE-B1C1-460A-8BC4-C0526096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6" name="top-red-rule">
            <a:extLst xmlns:a="http://schemas.openxmlformats.org/drawingml/2006/main">
              <a:ext uri="{FF2B5EF4-FFF2-40B4-BE49-F238E27FC236}">
                <a16:creationId xmlns:a16="http://schemas.microsoft.com/office/drawing/2014/main" id="{6F8C08B3-50ED-4991-A420-A2C5044F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47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6FB3AC42-C0C8-47AA-9998-C6CB9B3D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461"/>
          </a:solidFill>
          <a:ln xmlns:a="http://schemas.openxmlformats.org/drawingml/2006/main" w="0">
            <a:solidFill>
              <a:srgbClr val="E2C461"/>
            </a:solidFill>
            <a:prstDash val="solid"/>
          </a:ln>
        </p:spPr>
      </p:sp>
      <p:sp>
        <p:nvSpPr>
          <p:cNvPr id="4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562E23F-0143-4459-8379-18AFDC18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4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F3B1D9E-E4B4-4385-BC4D-CBE1DA58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WHY NOW</a:t>
            </a:r>
          </a:p>
        </p:txBody>
      </p:sp>
      <p:sp>
        <p:nvSpPr>
          <p:cNvPr id="50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D75D8F3-295E-4E86-80B6-28F93187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953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16120E"/>
                </a:solidFill>
                <a:latin typeface="SimSun"/>
                <a:ea typeface="SimSun"/>
                <a:cs typeface="SimSun"/>
              </a:defRPr>
            </a:pPr>
            <a:r>
              <a:rPr sz="3750" b="0">
                <a:solidFill>
                  <a:srgbClr val="16120E"/>
                </a:solidFill>
                <a:latin typeface="SimSun"/>
                <a:ea typeface="SimSun"/>
                <a:cs typeface="SimSun"/>
              </a:rPr>
              <a:t>AI 生成已普及，下一步是把生成变成流程。</a:t>
            </a:r>
          </a:p>
        </p:txBody>
      </p:sp>
      <p:sp>
        <p:nvSpPr>
          <p:cNvPr id="51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4349FD69-D4C2-44A0-B889-A9AB17AF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OperAI 的差异化在于：更贴近运营岗位、更能沉淀组织知识、更容易解释和复核。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E2E163-0B63-49F7-8202-1B4C54E9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11</a:t>
            </a:r>
          </a:p>
        </p:txBody>
      </p:sp>
      <p:sp>
        <p:nvSpPr>
          <p:cNvPr id="5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FBB63EF-7884-4BA1-957B-7AB286C8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2A4"/>
          </a:solidFill>
          <a:ln xmlns:a="http://schemas.openxmlformats.org/drawingml/2006/main" w="0">
            <a:solidFill>
              <a:srgbClr val="BDB2A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029E91-56BA-4203-B901-9DF8FC8B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OperAI Harness / Competition Pitch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5EE0929-B34E-4C6E-AD61-4016BBCD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107823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F0B"/>
          </a:solidFill>
          <a:ln xmlns:a="http://schemas.openxmlformats.org/drawingml/2006/main" w="0">
            <a:solidFill>
              <a:srgbClr val="120F0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FB090AA-2042-4035-AA67-445F1D56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B89376-F3ED-404C-AD00-ACB7E99F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0040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5C027AC-712C-42EB-9412-973FB3BA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20040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AB899CC-233E-4369-B515-5FCBDE96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0040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C54048A-07AE-46E5-935B-87B108F3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0040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F5A9E0E-CBED-4000-9502-87CF308F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0040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2F85F2C-30BB-47EC-99E6-6359C636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0040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1D9938D-5FE3-46AD-AA92-BD760AC0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0040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1C6F70B-C596-4288-93E8-666A986D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0040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CEEFEDF-3883-41F7-A385-8A542D95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0040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AF0D725-7689-438E-9038-92799CAB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0040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0A9D546-7422-4EEF-B04A-D541E3C6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040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65A9CF6-A797-49DD-902E-C1892A12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0040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A81AB16-09BE-4144-90BA-AB975429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0040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3C7E642-F5FE-4D0F-8455-813D3308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040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EBEFA74-CA9F-4121-9889-D3388BBA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0040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5C008E6-9F38-40E6-82E6-080E5288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0040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9E0CB5F-3E68-4AA0-A4E8-B8C0E172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0040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EA8B964-5705-4309-991C-42FE78F3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0040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A3DF53C-8EF4-4E53-9D1B-4F6114C4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0040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4A7D0E9-87D1-409A-BE9A-39EC1253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200400"/>
            <a:ext cx="95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5CEEBC9-A515-45CB-B307-BACBBF68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B08D2DF-523F-4203-9982-662309EA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0A3BFC5-AF5B-4DAA-B71F-60E2F57E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4783FE0-806F-4754-BF42-16FD4620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1CCD6AF-E09C-42C1-8873-685D433B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520"/>
          </a:solidFill>
          <a:ln xmlns:a="http://schemas.openxmlformats.org/drawingml/2006/main" w="0">
            <a:solidFill>
              <a:srgbClr val="2A252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51AEAB4-F494-44E0-B478-368F41B0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9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9EF"/>
                </a:solidFill>
                <a:latin typeface="Microsoft YaHei"/>
                <a:ea typeface="Microsoft YaHei"/>
                <a:cs typeface="Microsoft YaHei"/>
              </a:rPr>
              <a:t>普通 AI 工具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2720A5B-92C8-406D-8781-D5902274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D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7CDBE"/>
                </a:solidFill>
                <a:latin typeface="Microsoft YaHei"/>
                <a:ea typeface="Microsoft YaHei"/>
                <a:cs typeface="Microsoft YaHei"/>
              </a:rPr>
              <a:t>生成一次内容，结果容易散落在聊天记录里。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C902EEB-4812-4213-8045-BE0A26B4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242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9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89B65"/>
                </a:solidFill>
                <a:latin typeface="Microsoft YaHei"/>
                <a:ea typeface="Microsoft YaHei"/>
                <a:cs typeface="Microsoft YaHei"/>
              </a:rPr>
              <a:t>OperAI Harness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C0585F3-B5D1-428B-8BC4-77C5EECB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00500"/>
            <a:ext cx="3810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9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9EF"/>
                </a:solidFill>
                <a:latin typeface="Microsoft YaHei"/>
                <a:ea typeface="Microsoft YaHei"/>
                <a:cs typeface="Microsoft YaHei"/>
              </a:rPr>
              <a:t>把输入、技能、证据、质量检验和交付物串成可追踪系统。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40F9BE1-15E7-4358-86B7-F9445098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242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9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9EF"/>
                </a:solidFill>
                <a:latin typeface="Microsoft YaHei"/>
                <a:ea typeface="Microsoft YaHei"/>
                <a:cs typeface="Microsoft YaHei"/>
              </a:rPr>
              <a:t>长期壁垒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5D79CBA-A2FC-4848-86DA-DF679C8F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D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7CDBE"/>
                </a:solidFill>
                <a:latin typeface="Microsoft YaHei"/>
                <a:ea typeface="Microsoft YaHei"/>
                <a:cs typeface="Microsoft YaHei"/>
              </a:rPr>
              <a:t>客户自己的 Skill、行业规则和运行档案会越用越厚。</a:t>
            </a:r>
          </a:p>
        </p:txBody>
      </p:sp>
    </p:spTree>
    <p:extLst>
      <p:ext uri="{BB962C8B-B14F-4D97-AF65-F5344CB8AC3E}">
        <p14:creationId xmlns:p14="http://schemas.microsoft.com/office/powerpoint/2010/main" val="40814358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-bg">
            <a:extLst xmlns:a="http://schemas.openxmlformats.org/drawingml/2006/main">
              <a:ext uri="{FF2B5EF4-FFF2-40B4-BE49-F238E27FC236}">
                <a16:creationId xmlns:a16="http://schemas.microsoft.com/office/drawing/2014/main" id="{0E4DCBC0-AB0C-43B2-90EC-F3EA4C47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grid-v">
            <a:extLst xmlns:a="http://schemas.openxmlformats.org/drawingml/2006/main">
              <a:ext uri="{FF2B5EF4-FFF2-40B4-BE49-F238E27FC236}">
                <a16:creationId xmlns:a16="http://schemas.microsoft.com/office/drawing/2014/main" id="{C9615791-30B6-480F-90F2-59F6A1A8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" name="grid-v">
            <a:extLst xmlns:a="http://schemas.openxmlformats.org/drawingml/2006/main">
              <a:ext uri="{FF2B5EF4-FFF2-40B4-BE49-F238E27FC236}">
                <a16:creationId xmlns:a16="http://schemas.microsoft.com/office/drawing/2014/main" id="{432CF597-A9A0-4108-B82C-89E9B51F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25E66D27-A692-4CE0-BC37-466EE4FB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1D7470FA-ED91-41FA-9574-C96DBCCA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51A49189-A787-4205-B50C-21FA1AAB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1AC189D0-62DC-4B38-8597-B63511EE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64757AE5-FCE2-4982-8879-59ACF6D2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584521FA-9B86-41B6-A8BD-B0D7DC7F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C292A127-3F2C-4C6A-92D2-4C4F9781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E2283BF3-2461-4247-94B3-84BB796C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0019077A-2B4A-4E02-BB7E-858F93E0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A12C6A4B-C3A6-4B51-876B-D65A3BB2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8005EE0C-2B6F-419A-9E52-B39AF382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A9E451D2-CFF6-4971-AEAC-0A1F306D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0C958985-CB0C-4B28-8944-A70EA5F8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ED85574F-05BC-4C6F-98CC-58BB2273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D6E703F3-2E64-4C91-8F6B-94710878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34F84C39-28D1-471D-8D71-2B1D8B61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3B60E835-7F14-43E9-957B-2D82D4B2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CE3664DC-8D59-4EDA-86B5-48B702BC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44B02F23-CC76-457F-B6C6-C4593529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7A81375B-B866-41C4-9ADE-6B1A2C76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4" name="grid-v">
            <a:extLst xmlns:a="http://schemas.openxmlformats.org/drawingml/2006/main">
              <a:ext uri="{FF2B5EF4-FFF2-40B4-BE49-F238E27FC236}">
                <a16:creationId xmlns:a16="http://schemas.microsoft.com/office/drawing/2014/main" id="{DBB45A86-474D-41B8-A83F-4F9C84D0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5" name="grid-v">
            <a:extLst xmlns:a="http://schemas.openxmlformats.org/drawingml/2006/main">
              <a:ext uri="{FF2B5EF4-FFF2-40B4-BE49-F238E27FC236}">
                <a16:creationId xmlns:a16="http://schemas.microsoft.com/office/drawing/2014/main" id="{DCBE3D1C-A94F-4DB4-A754-57F31161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6" name="grid-v">
            <a:extLst xmlns:a="http://schemas.openxmlformats.org/drawingml/2006/main">
              <a:ext uri="{FF2B5EF4-FFF2-40B4-BE49-F238E27FC236}">
                <a16:creationId xmlns:a16="http://schemas.microsoft.com/office/drawing/2014/main" id="{496E45E6-2BAA-4BD6-AEDF-308F3BFD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7" name="grid-v">
            <a:extLst xmlns:a="http://schemas.openxmlformats.org/drawingml/2006/main">
              <a:ext uri="{FF2B5EF4-FFF2-40B4-BE49-F238E27FC236}">
                <a16:creationId xmlns:a16="http://schemas.microsoft.com/office/drawing/2014/main" id="{068581AB-68AF-4855-9ACA-B068EFB8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8" name="grid-v">
            <a:extLst xmlns:a="http://schemas.openxmlformats.org/drawingml/2006/main">
              <a:ext uri="{FF2B5EF4-FFF2-40B4-BE49-F238E27FC236}">
                <a16:creationId xmlns:a16="http://schemas.microsoft.com/office/drawing/2014/main" id="{A3AE43FC-ECCE-4472-9706-1BEF4686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29" name="grid-v">
            <a:extLst xmlns:a="http://schemas.openxmlformats.org/drawingml/2006/main">
              <a:ext uri="{FF2B5EF4-FFF2-40B4-BE49-F238E27FC236}">
                <a16:creationId xmlns:a16="http://schemas.microsoft.com/office/drawing/2014/main" id="{FFF81A4E-D00E-4A87-B9FC-19F85A8B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CB867550-A49A-4CF6-A11D-363BB6A2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D10DFF32-EB7B-433C-82DD-0DAC4A65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8CA73203-41A9-4794-8A59-81A7562F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19481B2E-8042-4516-88FB-BD06E2FA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0AA11F62-A149-40B2-B508-F11F0D67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AEE4CE39-03E5-443A-A06F-FE1B4F98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9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6" name="grid-h">
            <a:extLst xmlns:a="http://schemas.openxmlformats.org/drawingml/2006/main">
              <a:ext uri="{FF2B5EF4-FFF2-40B4-BE49-F238E27FC236}">
                <a16:creationId xmlns:a16="http://schemas.microsoft.com/office/drawing/2014/main" id="{33A8AEA4-AEF3-42E2-A99C-254C9528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28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7" name="grid-h">
            <a:extLst xmlns:a="http://schemas.openxmlformats.org/drawingml/2006/main">
              <a:ext uri="{FF2B5EF4-FFF2-40B4-BE49-F238E27FC236}">
                <a16:creationId xmlns:a16="http://schemas.microsoft.com/office/drawing/2014/main" id="{E810F9E6-E357-4861-9CAE-7CE0B6FE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67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8" name="grid-h">
            <a:extLst xmlns:a="http://schemas.openxmlformats.org/drawingml/2006/main">
              <a:ext uri="{FF2B5EF4-FFF2-40B4-BE49-F238E27FC236}">
                <a16:creationId xmlns:a16="http://schemas.microsoft.com/office/drawing/2014/main" id="{6533B39B-6423-49F8-BC6D-C306E825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05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39" name="grid-h">
            <a:extLst xmlns:a="http://schemas.openxmlformats.org/drawingml/2006/main">
              <a:ext uri="{FF2B5EF4-FFF2-40B4-BE49-F238E27FC236}">
                <a16:creationId xmlns:a16="http://schemas.microsoft.com/office/drawing/2014/main" id="{65CF4652-433C-41D1-B936-056D7D0F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0" name="grid-h">
            <a:extLst xmlns:a="http://schemas.openxmlformats.org/drawingml/2006/main">
              <a:ext uri="{FF2B5EF4-FFF2-40B4-BE49-F238E27FC236}">
                <a16:creationId xmlns:a16="http://schemas.microsoft.com/office/drawing/2014/main" id="{53D3F8B0-9E0D-4799-85B4-C4C511FE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1" name="grid-h">
            <a:extLst xmlns:a="http://schemas.openxmlformats.org/drawingml/2006/main">
              <a:ext uri="{FF2B5EF4-FFF2-40B4-BE49-F238E27FC236}">
                <a16:creationId xmlns:a16="http://schemas.microsoft.com/office/drawing/2014/main" id="{D3830374-90A1-477B-8AF4-2395402D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19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2" name="grid-h">
            <a:extLst xmlns:a="http://schemas.openxmlformats.org/drawingml/2006/main">
              <a:ext uri="{FF2B5EF4-FFF2-40B4-BE49-F238E27FC236}">
                <a16:creationId xmlns:a16="http://schemas.microsoft.com/office/drawing/2014/main" id="{72BF75C4-414A-4A02-AD48-CEDF8A8C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3" name="grid-h">
            <a:extLst xmlns:a="http://schemas.openxmlformats.org/drawingml/2006/main">
              <a:ext uri="{FF2B5EF4-FFF2-40B4-BE49-F238E27FC236}">
                <a16:creationId xmlns:a16="http://schemas.microsoft.com/office/drawing/2014/main" id="{A318585B-B0B1-405A-BD7B-4ED704EE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95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4" name="grid-h">
            <a:extLst xmlns:a="http://schemas.openxmlformats.org/drawingml/2006/main">
              <a:ext uri="{FF2B5EF4-FFF2-40B4-BE49-F238E27FC236}">
                <a16:creationId xmlns:a16="http://schemas.microsoft.com/office/drawing/2014/main" id="{42856FAF-4B3A-4EF1-ABE6-CC49FDA8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5" name="grid-h">
            <a:extLst xmlns:a="http://schemas.openxmlformats.org/drawingml/2006/main">
              <a:ext uri="{FF2B5EF4-FFF2-40B4-BE49-F238E27FC236}">
                <a16:creationId xmlns:a16="http://schemas.microsoft.com/office/drawing/2014/main" id="{A8AD0410-EA67-4B1D-B521-A598DEAC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2"/>
          </a:solidFill>
          <a:ln xmlns:a="http://schemas.openxmlformats.org/drawingml/2006/main" w="0">
            <a:solidFill>
              <a:srgbClr val="E7DED2"/>
            </a:solidFill>
            <a:prstDash val="solid"/>
          </a:ln>
        </p:spPr>
      </p:sp>
      <p:sp>
        <p:nvSpPr>
          <p:cNvPr id="46" name="top-red-rule">
            <a:extLst xmlns:a="http://schemas.openxmlformats.org/drawingml/2006/main">
              <a:ext uri="{FF2B5EF4-FFF2-40B4-BE49-F238E27FC236}">
                <a16:creationId xmlns:a16="http://schemas.microsoft.com/office/drawing/2014/main" id="{70C1432F-3802-4848-BA6B-F522F588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47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660BAA38-4869-4877-A0A7-AAADAC7F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461"/>
          </a:solidFill>
          <a:ln xmlns:a="http://schemas.openxmlformats.org/drawingml/2006/main" w="0">
            <a:solidFill>
              <a:srgbClr val="E2C461"/>
            </a:solidFill>
            <a:prstDash val="solid"/>
          </a:ln>
        </p:spPr>
      </p:sp>
      <p:sp>
        <p:nvSpPr>
          <p:cNvPr id="48" name="red-diagonal">
            <a:extLst xmlns:a="http://schemas.openxmlformats.org/drawingml/2006/main">
              <a:ext uri="{FF2B5EF4-FFF2-40B4-BE49-F238E27FC236}">
                <a16:creationId xmlns:a16="http://schemas.microsoft.com/office/drawing/2014/main" id="{3B2CEC76-8632-45E4-8312-1773AAF3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10000">
            <a:off x="685800" y="3333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49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1AED6BA-2158-419A-B836-112F193F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824"/>
          </a:solidFill>
          <a:ln xmlns:a="http://schemas.openxmlformats.org/drawingml/2006/main" w="0">
            <a:solidFill>
              <a:srgbClr val="C73824"/>
            </a:solidFill>
            <a:prstDash val="solid"/>
          </a:ln>
        </p:spPr>
      </p:sp>
      <p:sp>
        <p:nvSpPr>
          <p:cNvPr id="50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97FC088-4E76-454C-9C4D-C1A39BB1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CLOSE</a:t>
            </a:r>
          </a:p>
        </p:txBody>
      </p:sp>
      <p:sp>
        <p:nvSpPr>
          <p:cNvPr id="51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5D132B6-7B26-4517-8FFF-2C51CC92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334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16120E"/>
                </a:solidFill>
                <a:latin typeface="SimSun"/>
                <a:ea typeface="SimSun"/>
                <a:cs typeface="SimSun"/>
              </a:defRPr>
            </a:pPr>
            <a:r>
              <a:rPr sz="3750" b="0">
                <a:solidFill>
                  <a:srgbClr val="16120E"/>
                </a:solidFill>
                <a:latin typeface="SimSun"/>
                <a:ea typeface="SimSun"/>
                <a:cs typeface="SimSun"/>
              </a:rPr>
              <a:t>OperAI Harness 让运营工作第一次像工程一样可编排。</a:t>
            </a:r>
          </a:p>
        </p:txBody>
      </p:sp>
      <p:sp>
        <p:nvSpPr>
          <p:cNvPr id="52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CAB70FFA-D055-49B7-9C30-D67FD377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66B5D"/>
                </a:solidFill>
                <a:latin typeface="Microsoft YaHei"/>
                <a:ea typeface="Microsoft YaHei"/>
                <a:cs typeface="Microsoft YaHei"/>
              </a:rPr>
              <a:t>它不替代运营人员，而是把运营人员每天反复做的判断、拆解、生成、复核和交付，变成团队可以复用的智能工作系统。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BA10335-F04B-4682-89E6-2CE79F38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12</a:t>
            </a:r>
          </a:p>
        </p:txBody>
      </p:sp>
      <p:sp>
        <p:nvSpPr>
          <p:cNvPr id="5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2992D4E-290D-4F9B-B602-03F69394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2A4"/>
          </a:solidFill>
          <a:ln xmlns:a="http://schemas.openxmlformats.org/drawingml/2006/main" w="0">
            <a:solidFill>
              <a:srgbClr val="BDB2A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9B6A435-5F43-4F47-8432-FEFE9EB9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766B5D"/>
                </a:solidFill>
                <a:latin typeface="Cascadia Mono"/>
                <a:ea typeface="Cascadia Mono"/>
                <a:cs typeface="Cascadia Mono"/>
              </a:rPr>
              <a:t>OperAI Harness / Competition Pitch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EABD5F-308B-4F59-8B10-D7C8407A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909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F0B"/>
          </a:solidFill>
          <a:ln xmlns:a="http://schemas.openxmlformats.org/drawingml/2006/main" w="9525">
            <a:solidFill>
              <a:srgbClr val="120F0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B48E9D4-6411-417D-9B52-162A7999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671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9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9EF"/>
                </a:solidFill>
                <a:latin typeface="Microsoft YaHei"/>
                <a:ea typeface="Microsoft YaHei"/>
                <a:cs typeface="Microsoft YaHei"/>
              </a:rPr>
              <a:t>可编排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344A68A-995E-45FD-A84F-DFCF0C68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6354C05-5C61-4E5B-AA1E-F43F7459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671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可检验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A41ECFF-B255-4C81-ADB6-A8C5AD8A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909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239D6C3-2117-4895-9365-AA795C82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671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可交付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DC50DBA-7ACF-4145-8BE7-20AF845E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909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DB2A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85F25C5-471C-4ECF-ADA8-CCE46FE5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671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可沉淀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C57D955-F8BB-4769-BA17-E71DA729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3870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120E"/>
                </a:solidFill>
                <a:latin typeface="Microsoft YaHei"/>
                <a:ea typeface="Microsoft YaHei"/>
                <a:cs typeface="Microsoft YaHei"/>
              </a:rPr>
              <a:t>从一个好看的 AI Demo，走向真正能进入企业运营团队日常工作的产品。</a:t>
            </a:r>
          </a:p>
        </p:txBody>
      </p:sp>
      <p:sp>
        <p:nvSpPr>
          <p:cNvPr id="65" name="stamp-box">
            <a:extLst xmlns:a="http://schemas.openxmlformats.org/drawingml/2006/main">
              <a:ext uri="{FF2B5EF4-FFF2-40B4-BE49-F238E27FC236}">
                <a16:creationId xmlns:a16="http://schemas.microsoft.com/office/drawing/2014/main" id="{DDD82094-8A26-45B6-B1DD-1E672F54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914400"/>
            <a:ext cx="742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C7382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1A4CBE4-F730-434A-99B1-F9167960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10287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C73824"/>
                </a:solidFill>
                <a:latin typeface="Cascadia Mono"/>
                <a:ea typeface="Cascadia Mono"/>
                <a:cs typeface="Cascadia Mono"/>
              </a:rPr>
              <a:t>OPERAI</a:t>
            </a:r>
          </a:p>
        </p:txBody>
      </p:sp>
    </p:spTree>
    <p:extLst>
      <p:ext uri="{BB962C8B-B14F-4D97-AF65-F5344CB8AC3E}">
        <p14:creationId xmlns:p14="http://schemas.microsoft.com/office/powerpoint/2010/main" val="17880126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2026-06-06T08:02:41.7260000Z</dcterms:created>
  <dcterms:modified xsi:type="dcterms:W3CDTF">2026-06-06T08:02:41.7260000Z</dcterms:modified>
</coreProperties>
</file>